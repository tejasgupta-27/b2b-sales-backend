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6400800" cy="1828800"/>
          </a:xfrm>
          <a:prstGeom prst="rect">
            <a:avLst/>
          </a:prstGeom>
          <a:noFill/>
        </p:spPr>
        <p:txBody>
          <a:bodyPr wrap="none">
            <a:spAutoFit/>
          </a:bodyPr>
          <a:lstStyle/>
          <a:p>
            <a:pPr algn="ctr">
              <a:defRPr sz="4400" b="1">
                <a:solidFill>
                  <a:srgbClr val="2C3E50"/>
                </a:solidFill>
                <a:latin typeface="Segoe UI Semibold"/>
              </a:defRPr>
            </a:pPr>
            <a:r>
              <a:t>Sales Pitch Deck</a:t>
            </a:r>
          </a:p>
          <a:p>
            <a:pPr algn="ctr">
              <a:defRPr sz="2400">
                <a:solidFill>
                  <a:srgbClr val="3498DB"/>
                </a:solidFill>
                <a:latin typeface="Segoe UI"/>
              </a:defRPr>
            </a:pPr>
            <a:r>
              <a:t>Generated from Quotation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7315200" cy="914400"/>
          </a:xfrm>
          <a:prstGeom prst="rect">
            <a:avLst/>
          </a:prstGeom>
          <a:noFill/>
        </p:spPr>
        <p:txBody>
          <a:bodyPr wrap="none">
            <a:spAutoFit/>
          </a:bodyPr>
          <a:lstStyle/>
          <a:p>
            <a:pPr>
              <a:defRPr sz="3200" b="1">
                <a:solidFill>
                  <a:srgbClr val="2C3E50"/>
                </a:solidFill>
                <a:latin typeface="Segoe UI Semibold"/>
              </a:defRPr>
            </a:pPr>
            <a:r>
              <a:t>Customer Need</a:t>
            </a:r>
          </a:p>
        </p:txBody>
      </p:sp>
      <p:sp>
        <p:nvSpPr>
          <p:cNvPr id="3" name="Rectangle 2"/>
          <p:cNvSpPr/>
          <p:nvPr/>
        </p:nvSpPr>
        <p:spPr>
          <a:xfrm>
            <a:off x="457200" y="1371600"/>
            <a:ext cx="91440" cy="365760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7315200" cy="4572000"/>
          </a:xfrm>
          <a:prstGeom prst="rect">
            <a:avLst/>
          </a:prstGeom>
          <a:noFill/>
        </p:spPr>
        <p:txBody>
          <a:bodyPr wrap="square">
            <a:spAutoFit/>
          </a:bodyPr>
          <a:lstStyle/>
          <a:p>
            <a:pPr>
              <a:spcAft>
                <a:spcPts val="1200"/>
              </a:spcAft>
              <a:defRPr sz="2000">
                <a:solidFill>
                  <a:srgbClr val="505050"/>
                </a:solidFill>
                <a:latin typeface="Segoe UI"/>
              </a:defRPr>
            </a:pPr>
            <a:r>
              <a:t>• 株式会社クロステック様はコンサルティング業務での効率化を目指しています。</a:t>
            </a:r>
          </a:p>
          <a:p>
            <a:pPr>
              <a:spcAft>
                <a:spcPts val="1200"/>
              </a:spcAft>
              <a:defRPr sz="2000">
                <a:solidFill>
                  <a:srgbClr val="505050"/>
                </a:solidFill>
                <a:latin typeface="Segoe UI"/>
              </a:defRPr>
            </a:pPr>
            <a:r>
              <a:t>• 資料作成、Zoom会議、プレゼンテーション、軽いグラフィック編集が主な作業。</a:t>
            </a:r>
          </a:p>
          <a:p>
            <a:pPr>
              <a:spcAft>
                <a:spcPts val="1200"/>
              </a:spcAft>
              <a:defRPr sz="2000">
                <a:solidFill>
                  <a:srgbClr val="505050"/>
                </a:solidFill>
                <a:latin typeface="Segoe UI"/>
              </a:defRPr>
            </a:pPr>
            <a:r>
              <a:t>• 軽量かつ高解像度ディスプレイ搭載のノートパソコンを5台導入希望。</a:t>
            </a:r>
          </a:p>
          <a:p>
            <a:pPr>
              <a:spcAft>
                <a:spcPts val="1200"/>
              </a:spcAft>
              <a:defRPr sz="2000">
                <a:solidFill>
                  <a:srgbClr val="505050"/>
                </a:solidFill>
                <a:latin typeface="Segoe UI"/>
              </a:defRPr>
            </a:pPr>
            <a:r>
              <a:t>• 長時間バッテリー駆動と静音設計を重視。</a:t>
            </a:r>
          </a:p>
          <a:p>
            <a:pPr>
              <a:spcAft>
                <a:spcPts val="1200"/>
              </a:spcAft>
              <a:defRPr sz="2000">
                <a:solidFill>
                  <a:srgbClr val="505050"/>
                </a:solidFill>
                <a:latin typeface="Segoe UI"/>
              </a:defRPr>
            </a:pPr>
            <a:r>
              <a:t>• 迅速な故障対応と3年間のハードウェア保証、全国対応のオンサイトサポートを求めています。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7315200" cy="914400"/>
          </a:xfrm>
          <a:prstGeom prst="rect">
            <a:avLst/>
          </a:prstGeom>
          <a:noFill/>
        </p:spPr>
        <p:txBody>
          <a:bodyPr wrap="none">
            <a:spAutoFit/>
          </a:bodyPr>
          <a:lstStyle/>
          <a:p>
            <a:pPr>
              <a:defRPr sz="3200" b="1">
                <a:solidFill>
                  <a:srgbClr val="2C3E50"/>
                </a:solidFill>
                <a:latin typeface="Segoe UI Semibold"/>
              </a:defRPr>
            </a:pPr>
            <a:r>
              <a:t>Our Solution</a:t>
            </a:r>
          </a:p>
        </p:txBody>
      </p:sp>
      <p:sp>
        <p:nvSpPr>
          <p:cNvPr id="3" name="Rectangle 2"/>
          <p:cNvSpPr/>
          <p:nvPr/>
        </p:nvSpPr>
        <p:spPr>
          <a:xfrm>
            <a:off x="457200" y="1371600"/>
            <a:ext cx="91440" cy="365760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7315200" cy="4572000"/>
          </a:xfrm>
          <a:prstGeom prst="rect">
            <a:avLst/>
          </a:prstGeom>
          <a:noFill/>
        </p:spPr>
        <p:txBody>
          <a:bodyPr wrap="square">
            <a:spAutoFit/>
          </a:bodyPr>
          <a:lstStyle/>
          <a:p>
            <a:pPr>
              <a:spcAft>
                <a:spcPts val="1200"/>
              </a:spcAft>
              <a:defRPr sz="2000">
                <a:solidFill>
                  <a:srgbClr val="505050"/>
                </a:solidFill>
                <a:latin typeface="Segoe UI"/>
              </a:defRPr>
            </a:pPr>
            <a:r>
              <a:t>• 高性能15.6インチノートPCモデルCを5台ご提案。</a:t>
            </a:r>
          </a:p>
          <a:p>
            <a:pPr>
              <a:spcAft>
                <a:spcPts val="1200"/>
              </a:spcAft>
              <a:defRPr sz="2000">
                <a:solidFill>
                  <a:srgbClr val="505050"/>
                </a:solidFill>
                <a:latin typeface="Segoe UI"/>
              </a:defRPr>
            </a:pPr>
            <a:r>
              <a:t>• 法人向け3年オンサイト対応保証と日本語電話サポート付き。</a:t>
            </a:r>
          </a:p>
          <a:p>
            <a:pPr>
              <a:spcAft>
                <a:spcPts val="1200"/>
              </a:spcAft>
              <a:defRPr sz="2000">
                <a:solidFill>
                  <a:srgbClr val="505050"/>
                </a:solidFill>
                <a:latin typeface="Segoe UI"/>
              </a:defRPr>
            </a:pPr>
            <a:r>
              <a:t>• 延長保証プランで翌営業日オンサイト対応を実現。</a:t>
            </a:r>
          </a:p>
          <a:p>
            <a:pPr>
              <a:spcAft>
                <a:spcPts val="1200"/>
              </a:spcAft>
              <a:defRPr sz="2000">
                <a:solidFill>
                  <a:srgbClr val="505050"/>
                </a:solidFill>
                <a:latin typeface="Segoe UI"/>
              </a:defRPr>
            </a:pPr>
            <a:r>
              <a:t>• 日本語電話・チャットサポートプランで迅速な問題解決を支援。</a:t>
            </a:r>
          </a:p>
          <a:p>
            <a:pPr>
              <a:spcAft>
                <a:spcPts val="1200"/>
              </a:spcAft>
              <a:defRPr sz="2000">
                <a:solidFill>
                  <a:srgbClr val="505050"/>
                </a:solidFill>
                <a:latin typeface="Segoe UI"/>
              </a:defRPr>
            </a:pPr>
            <a:r>
              <a:t>• 軽量・長時間駆動・静音設計で業務効率を最大化。</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7315200" cy="914400"/>
          </a:xfrm>
          <a:prstGeom prst="rect">
            <a:avLst/>
          </a:prstGeom>
          <a:noFill/>
        </p:spPr>
        <p:txBody>
          <a:bodyPr wrap="none">
            <a:spAutoFit/>
          </a:bodyPr>
          <a:lstStyle/>
          <a:p>
            <a:pPr>
              <a:defRPr sz="3200" b="1">
                <a:solidFill>
                  <a:srgbClr val="2C3E50"/>
                </a:solidFill>
                <a:latin typeface="Segoe UI Semibold"/>
              </a:defRPr>
            </a:pPr>
            <a:r>
              <a:t>Product Overview (Specifications)</a:t>
            </a:r>
          </a:p>
        </p:txBody>
      </p:sp>
      <p:sp>
        <p:nvSpPr>
          <p:cNvPr id="3" name="Rectangle 2"/>
          <p:cNvSpPr/>
          <p:nvPr/>
        </p:nvSpPr>
        <p:spPr>
          <a:xfrm>
            <a:off x="457200" y="1371600"/>
            <a:ext cx="91440" cy="365760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7315200" cy="4572000"/>
          </a:xfrm>
          <a:prstGeom prst="rect">
            <a:avLst/>
          </a:prstGeom>
          <a:noFill/>
        </p:spPr>
        <p:txBody>
          <a:bodyPr wrap="square">
            <a:spAutoFit/>
          </a:bodyPr>
          <a:lstStyle/>
          <a:p>
            <a:pPr>
              <a:spcAft>
                <a:spcPts val="1200"/>
              </a:spcAft>
              <a:defRPr sz="2000">
                <a:solidFill>
                  <a:srgbClr val="505050"/>
                </a:solidFill>
                <a:latin typeface="Segoe UI"/>
              </a:defRPr>
            </a:pPr>
            <a:r>
              <a:t>• CPU: Intel Core i7搭載で高い処理性能を実現。</a:t>
            </a:r>
          </a:p>
          <a:p>
            <a:pPr>
              <a:spcAft>
                <a:spcPts val="1200"/>
              </a:spcAft>
              <a:defRPr sz="2000">
                <a:solidFill>
                  <a:srgbClr val="505050"/>
                </a:solidFill>
                <a:latin typeface="Segoe UI"/>
              </a:defRPr>
            </a:pPr>
            <a:r>
              <a:t>• メモリ: 16GB RAMでマルチタスクもスムーズ。</a:t>
            </a:r>
          </a:p>
          <a:p>
            <a:pPr>
              <a:spcAft>
                <a:spcPts val="1200"/>
              </a:spcAft>
              <a:defRPr sz="2000">
                <a:solidFill>
                  <a:srgbClr val="505050"/>
                </a:solidFill>
                <a:latin typeface="Segoe UI"/>
              </a:defRPr>
            </a:pPr>
            <a:r>
              <a:t>• ストレージ: 512GB SSDで高速アクセスと大容量を両立。</a:t>
            </a:r>
          </a:p>
          <a:p>
            <a:pPr>
              <a:spcAft>
                <a:spcPts val="1200"/>
              </a:spcAft>
              <a:defRPr sz="2000">
                <a:solidFill>
                  <a:srgbClr val="505050"/>
                </a:solidFill>
                <a:latin typeface="Segoe UI"/>
              </a:defRPr>
            </a:pPr>
            <a:r>
              <a:t>• ディスプレイ: 15.6インチフルHD高解像度で見やすい画面。</a:t>
            </a:r>
          </a:p>
          <a:p>
            <a:pPr>
              <a:spcAft>
                <a:spcPts val="1200"/>
              </a:spcAft>
              <a:defRPr sz="2000">
                <a:solidFill>
                  <a:srgbClr val="505050"/>
                </a:solidFill>
                <a:latin typeface="Segoe UI"/>
              </a:defRPr>
            </a:pPr>
            <a:r>
              <a:t>• 重量: 約1.6kgの軽量設計で持ち運びも快適。</a:t>
            </a:r>
          </a:p>
          <a:p>
            <a:pPr>
              <a:spcAft>
                <a:spcPts val="1200"/>
              </a:spcAft>
              <a:defRPr sz="2000">
                <a:solidFill>
                  <a:srgbClr val="505050"/>
                </a:solidFill>
                <a:latin typeface="Segoe UI"/>
              </a:defRPr>
            </a:pPr>
            <a:r>
              <a:t>• バッテリー: 最大15時間駆動、静音設計で快適な作業環境を提供。</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7315200" cy="914400"/>
          </a:xfrm>
          <a:prstGeom prst="rect">
            <a:avLst/>
          </a:prstGeom>
          <a:noFill/>
        </p:spPr>
        <p:txBody>
          <a:bodyPr wrap="none">
            <a:spAutoFit/>
          </a:bodyPr>
          <a:lstStyle/>
          <a:p>
            <a:pPr>
              <a:defRPr sz="3200" b="1">
                <a:solidFill>
                  <a:srgbClr val="2C3E50"/>
                </a:solidFill>
                <a:latin typeface="Segoe UI Semibold"/>
              </a:defRPr>
            </a:pPr>
            <a:r>
              <a:t>Pricing Breakdown</a:t>
            </a:r>
          </a:p>
        </p:txBody>
      </p:sp>
      <p:sp>
        <p:nvSpPr>
          <p:cNvPr id="3" name="Rectangle 2"/>
          <p:cNvSpPr/>
          <p:nvPr/>
        </p:nvSpPr>
        <p:spPr>
          <a:xfrm>
            <a:off x="457200" y="1371600"/>
            <a:ext cx="91440" cy="365760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7315200" cy="4572000"/>
          </a:xfrm>
          <a:prstGeom prst="rect">
            <a:avLst/>
          </a:prstGeom>
          <a:noFill/>
        </p:spPr>
        <p:txBody>
          <a:bodyPr wrap="square">
            <a:spAutoFit/>
          </a:bodyPr>
          <a:lstStyle/>
          <a:p>
            <a:pPr>
              <a:spcAft>
                <a:spcPts val="1200"/>
              </a:spcAft>
              <a:defRPr sz="2000">
                <a:solidFill>
                  <a:srgbClr val="505050"/>
                </a:solidFill>
                <a:latin typeface="Segoe UI"/>
              </a:defRPr>
            </a:pPr>
            <a:r>
              <a:t>• モデルCノートPC（5台）合計: ¥900,000</a:t>
            </a:r>
          </a:p>
          <a:p>
            <a:pPr>
              <a:spcAft>
                <a:spcPts val="1200"/>
              </a:spcAft>
              <a:defRPr sz="2000">
                <a:solidFill>
                  <a:srgbClr val="505050"/>
                </a:solidFill>
                <a:latin typeface="Segoe UI"/>
              </a:defRPr>
            </a:pPr>
            <a:r>
              <a:t>• 延長保証プラン（5台分）: ¥40,000</a:t>
            </a:r>
          </a:p>
          <a:p>
            <a:pPr>
              <a:spcAft>
                <a:spcPts val="1200"/>
              </a:spcAft>
              <a:defRPr sz="2000">
                <a:solidFill>
                  <a:srgbClr val="505050"/>
                </a:solidFill>
                <a:latin typeface="Segoe UI"/>
              </a:defRPr>
            </a:pPr>
            <a:r>
              <a:t>• 法人向け電話・チャットサポートプラン（3年間）: ¥35,000</a:t>
            </a:r>
          </a:p>
          <a:p>
            <a:pPr>
              <a:spcAft>
                <a:spcPts val="1200"/>
              </a:spcAft>
              <a:defRPr sz="2000">
                <a:solidFill>
                  <a:srgbClr val="505050"/>
                </a:solidFill>
                <a:latin typeface="Segoe UI"/>
              </a:defRPr>
            </a:pPr>
            <a:r>
              <a:t>• 小計: ¥975,000</a:t>
            </a:r>
          </a:p>
          <a:p>
            <a:pPr>
              <a:spcAft>
                <a:spcPts val="1200"/>
              </a:spcAft>
              <a:defRPr sz="2000">
                <a:solidFill>
                  <a:srgbClr val="505050"/>
                </a:solidFill>
                <a:latin typeface="Segoe UI"/>
              </a:defRPr>
            </a:pPr>
            <a:r>
              <a:t>• 消費税10%: ¥97,500</a:t>
            </a:r>
          </a:p>
          <a:p>
            <a:pPr>
              <a:spcAft>
                <a:spcPts val="1200"/>
              </a:spcAft>
              <a:defRPr sz="2000">
                <a:solidFill>
                  <a:srgbClr val="505050"/>
                </a:solidFill>
                <a:latin typeface="Segoe UI"/>
              </a:defRPr>
            </a:pPr>
            <a:r>
              <a:t>• 合計金額: ¥1,072,500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7315200" cy="914400"/>
          </a:xfrm>
          <a:prstGeom prst="rect">
            <a:avLst/>
          </a:prstGeom>
          <a:noFill/>
        </p:spPr>
        <p:txBody>
          <a:bodyPr wrap="none">
            <a:spAutoFit/>
          </a:bodyPr>
          <a:lstStyle/>
          <a:p>
            <a:pPr>
              <a:defRPr sz="3200" b="1">
                <a:solidFill>
                  <a:srgbClr val="2C3E50"/>
                </a:solidFill>
                <a:latin typeface="Segoe UI Semibold"/>
              </a:defRPr>
            </a:pPr>
            <a:r>
              <a:t>Warranty &amp; Support</a:t>
            </a:r>
          </a:p>
        </p:txBody>
      </p:sp>
      <p:sp>
        <p:nvSpPr>
          <p:cNvPr id="3" name="Rectangle 2"/>
          <p:cNvSpPr/>
          <p:nvPr/>
        </p:nvSpPr>
        <p:spPr>
          <a:xfrm>
            <a:off x="457200" y="1371600"/>
            <a:ext cx="91440" cy="365760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7315200" cy="4572000"/>
          </a:xfrm>
          <a:prstGeom prst="rect">
            <a:avLst/>
          </a:prstGeom>
          <a:noFill/>
        </p:spPr>
        <p:txBody>
          <a:bodyPr wrap="square">
            <a:spAutoFit/>
          </a:bodyPr>
          <a:lstStyle/>
          <a:p>
            <a:pPr>
              <a:spcAft>
                <a:spcPts val="1200"/>
              </a:spcAft>
              <a:defRPr sz="2000">
                <a:solidFill>
                  <a:srgbClr val="505050"/>
                </a:solidFill>
                <a:latin typeface="Segoe UI"/>
              </a:defRPr>
            </a:pPr>
            <a:r>
              <a:t>• 3年間の法人向けオンサイト保証付き。</a:t>
            </a:r>
          </a:p>
          <a:p>
            <a:pPr>
              <a:spcAft>
                <a:spcPts val="1200"/>
              </a:spcAft>
              <a:defRPr sz="2000">
                <a:solidFill>
                  <a:srgbClr val="505050"/>
                </a:solidFill>
                <a:latin typeface="Segoe UI"/>
              </a:defRPr>
            </a:pPr>
            <a:r>
              <a:t>• 故障時は翌営業日に全国対応でオンサイトサポート。</a:t>
            </a:r>
          </a:p>
          <a:p>
            <a:pPr>
              <a:spcAft>
                <a:spcPts val="1200"/>
              </a:spcAft>
              <a:defRPr sz="2000">
                <a:solidFill>
                  <a:srgbClr val="505050"/>
                </a:solidFill>
                <a:latin typeface="Segoe UI"/>
              </a:defRPr>
            </a:pPr>
            <a:r>
              <a:t>• 日本語対応の電話・チャットサポートで迅速なトラブル解決。</a:t>
            </a:r>
          </a:p>
          <a:p>
            <a:pPr>
              <a:spcAft>
                <a:spcPts val="1200"/>
              </a:spcAft>
              <a:defRPr sz="2000">
                <a:solidFill>
                  <a:srgbClr val="505050"/>
                </a:solidFill>
                <a:latin typeface="Segoe UI"/>
              </a:defRPr>
            </a:pPr>
            <a:r>
              <a:t>• 延長保証プランで安心の長期サポートを提供。</a:t>
            </a:r>
          </a:p>
          <a:p>
            <a:pPr>
              <a:spcAft>
                <a:spcPts val="1200"/>
              </a:spcAft>
              <a:defRPr sz="2000">
                <a:solidFill>
                  <a:srgbClr val="505050"/>
                </a:solidFill>
                <a:latin typeface="Segoe UI"/>
              </a:defRPr>
            </a:pPr>
            <a:r>
              <a:t>• 大阪支社も含む全国対応体制で安心のサービスネットワーク。</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7315200" cy="914400"/>
          </a:xfrm>
          <a:prstGeom prst="rect">
            <a:avLst/>
          </a:prstGeom>
          <a:noFill/>
        </p:spPr>
        <p:txBody>
          <a:bodyPr wrap="none">
            <a:spAutoFit/>
          </a:bodyPr>
          <a:lstStyle/>
          <a:p>
            <a:pPr>
              <a:defRPr sz="3200" b="1">
                <a:solidFill>
                  <a:srgbClr val="2C3E50"/>
                </a:solidFill>
                <a:latin typeface="Segoe UI Semibold"/>
              </a:defRPr>
            </a:pPr>
            <a:r>
              <a:t>Product Comparison</a:t>
            </a:r>
          </a:p>
        </p:txBody>
      </p:sp>
      <p:sp>
        <p:nvSpPr>
          <p:cNvPr id="3" name="Rectangle 2"/>
          <p:cNvSpPr/>
          <p:nvPr/>
        </p:nvSpPr>
        <p:spPr>
          <a:xfrm>
            <a:off x="457200" y="1371600"/>
            <a:ext cx="91440" cy="365760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7315200" cy="4572000"/>
          </a:xfrm>
          <a:prstGeom prst="rect">
            <a:avLst/>
          </a:prstGeom>
          <a:noFill/>
        </p:spPr>
        <p:txBody>
          <a:bodyPr wrap="square">
            <a:spAutoFit/>
          </a:bodyPr>
          <a:lstStyle/>
          <a:p>
            <a:pPr>
              <a:spcAft>
                <a:spcPts val="1200"/>
              </a:spcAft>
              <a:defRPr sz="2000">
                <a:solidFill>
                  <a:srgbClr val="505050"/>
                </a:solidFill>
                <a:latin typeface="Segoe UI"/>
              </a:defRPr>
            </a:pPr>
            <a:r>
              <a:t>• 3つのバリエーションで性能は同等、名称のみ異なります。</a:t>
            </a:r>
          </a:p>
          <a:p>
            <a:pPr>
              <a:spcAft>
                <a:spcPts val="1200"/>
              </a:spcAft>
              <a:defRPr sz="2000">
                <a:solidFill>
                  <a:srgbClr val="505050"/>
                </a:solidFill>
                <a:latin typeface="Segoe UI"/>
              </a:defRPr>
            </a:pPr>
            <a:r>
              <a:t>• すべて15.6インチフルHDディスプレイ搭載。</a:t>
            </a:r>
          </a:p>
          <a:p>
            <a:pPr>
              <a:spcAft>
                <a:spcPts val="1200"/>
              </a:spcAft>
              <a:defRPr sz="2000">
                <a:solidFill>
                  <a:srgbClr val="505050"/>
                </a:solidFill>
                <a:latin typeface="Segoe UI"/>
              </a:defRPr>
            </a:pPr>
            <a:r>
              <a:t>• Intel Core i7、16GB RAM、512GB SSDの高性能構成。</a:t>
            </a:r>
          </a:p>
          <a:p>
            <a:pPr>
              <a:spcAft>
                <a:spcPts val="1200"/>
              </a:spcAft>
              <a:defRPr sz="2000">
                <a:solidFill>
                  <a:srgbClr val="505050"/>
                </a:solidFill>
                <a:latin typeface="Segoe UI"/>
              </a:defRPr>
            </a:pPr>
            <a:r>
              <a:t>• 3年間のオンサイト保証と日本語サポート付き。</a:t>
            </a:r>
          </a:p>
          <a:p>
            <a:pPr>
              <a:spcAft>
                <a:spcPts val="1200"/>
              </a:spcAft>
              <a:defRPr sz="2000">
                <a:solidFill>
                  <a:srgbClr val="505050"/>
                </a:solidFill>
                <a:latin typeface="Segoe UI"/>
              </a:defRPr>
            </a:pPr>
            <a:r>
              <a:t>• 価格はすべて同一でコストパフォーマンスに優れています。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7315200" cy="914400"/>
          </a:xfrm>
          <a:prstGeom prst="rect">
            <a:avLst/>
          </a:prstGeom>
          <a:noFill/>
        </p:spPr>
        <p:txBody>
          <a:bodyPr wrap="none">
            <a:spAutoFit/>
          </a:bodyPr>
          <a:lstStyle/>
          <a:p>
            <a:pPr>
              <a:defRPr sz="3200" b="1">
                <a:solidFill>
                  <a:srgbClr val="2C3E50"/>
                </a:solidFill>
                <a:latin typeface="Segoe UI Semibold"/>
              </a:defRPr>
            </a:pPr>
            <a:r>
              <a:t>Delivery Timeline</a:t>
            </a:r>
          </a:p>
        </p:txBody>
      </p:sp>
      <p:sp>
        <p:nvSpPr>
          <p:cNvPr id="3" name="Rectangle 2"/>
          <p:cNvSpPr/>
          <p:nvPr/>
        </p:nvSpPr>
        <p:spPr>
          <a:xfrm>
            <a:off x="457200" y="1371600"/>
            <a:ext cx="91440" cy="365760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7315200" cy="4572000"/>
          </a:xfrm>
          <a:prstGeom prst="rect">
            <a:avLst/>
          </a:prstGeom>
          <a:noFill/>
        </p:spPr>
        <p:txBody>
          <a:bodyPr wrap="square">
            <a:spAutoFit/>
          </a:bodyPr>
          <a:lstStyle/>
          <a:p>
            <a:pPr>
              <a:spcAft>
                <a:spcPts val="1200"/>
              </a:spcAft>
              <a:defRPr sz="2000">
                <a:solidFill>
                  <a:srgbClr val="505050"/>
                </a:solidFill>
                <a:latin typeface="Segoe UI"/>
              </a:defRPr>
            </a:pPr>
            <a:r>
              <a:t>• ご注文確定後、1週間以内の納品を予定。</a:t>
            </a:r>
          </a:p>
          <a:p>
            <a:pPr>
              <a:spcAft>
                <a:spcPts val="1200"/>
              </a:spcAft>
              <a:defRPr sz="2000">
                <a:solidFill>
                  <a:srgbClr val="505050"/>
                </a:solidFill>
                <a:latin typeface="Segoe UI"/>
              </a:defRPr>
            </a:pPr>
            <a:r>
              <a:t>• 在庫状況により納期が変動する場合があります。</a:t>
            </a:r>
          </a:p>
          <a:p>
            <a:pPr>
              <a:spcAft>
                <a:spcPts val="1200"/>
              </a:spcAft>
              <a:defRPr sz="2000">
                <a:solidFill>
                  <a:srgbClr val="505050"/>
                </a:solidFill>
                <a:latin typeface="Segoe UI"/>
              </a:defRPr>
            </a:pPr>
            <a:r>
              <a:t>• 納品時に初期設定および動作確認を実施。</a:t>
            </a:r>
          </a:p>
          <a:p>
            <a:pPr>
              <a:spcAft>
                <a:spcPts val="1200"/>
              </a:spcAft>
              <a:defRPr sz="2000">
                <a:solidFill>
                  <a:srgbClr val="505050"/>
                </a:solidFill>
                <a:latin typeface="Segoe UI"/>
              </a:defRPr>
            </a:pPr>
            <a:r>
              <a:t>• オンサイトサポートのスケジュールは別途調整。</a:t>
            </a:r>
          </a:p>
          <a:p>
            <a:pPr>
              <a:spcAft>
                <a:spcPts val="1200"/>
              </a:spcAft>
              <a:defRPr sz="2000">
                <a:solidFill>
                  <a:srgbClr val="505050"/>
                </a:solidFill>
                <a:latin typeface="Segoe UI"/>
              </a:defRPr>
            </a:pPr>
            <a:r>
              <a:t>• 迅速な対応でスムーズな導入をサポートします。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7315200" cy="914400"/>
          </a:xfrm>
          <a:prstGeom prst="rect">
            <a:avLst/>
          </a:prstGeom>
          <a:noFill/>
        </p:spPr>
        <p:txBody>
          <a:bodyPr wrap="none">
            <a:spAutoFit/>
          </a:bodyPr>
          <a:lstStyle/>
          <a:p>
            <a:pPr>
              <a:defRPr sz="3200" b="1">
                <a:solidFill>
                  <a:srgbClr val="2C3E50"/>
                </a:solidFill>
                <a:latin typeface="Segoe UI Semibold"/>
              </a:defRPr>
            </a:pPr>
            <a:r>
              <a:t>Call to Action</a:t>
            </a:r>
          </a:p>
        </p:txBody>
      </p:sp>
      <p:sp>
        <p:nvSpPr>
          <p:cNvPr id="3" name="Rectangle 2"/>
          <p:cNvSpPr/>
          <p:nvPr/>
        </p:nvSpPr>
        <p:spPr>
          <a:xfrm>
            <a:off x="457200" y="1371600"/>
            <a:ext cx="91440" cy="365760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7315200" cy="4572000"/>
          </a:xfrm>
          <a:prstGeom prst="rect">
            <a:avLst/>
          </a:prstGeom>
          <a:noFill/>
        </p:spPr>
        <p:txBody>
          <a:bodyPr wrap="square">
            <a:spAutoFit/>
          </a:bodyPr>
          <a:lstStyle/>
          <a:p>
            <a:pPr>
              <a:spcAft>
                <a:spcPts val="1200"/>
              </a:spcAft>
              <a:defRPr sz="2000">
                <a:solidFill>
                  <a:srgbClr val="505050"/>
                </a:solidFill>
                <a:latin typeface="Segoe UI"/>
              </a:defRPr>
            </a:pPr>
            <a:r>
              <a:t>• 本見積書をご確認のうえ、ご質問やご要望をお知らせください。</a:t>
            </a:r>
          </a:p>
          <a:p>
            <a:pPr>
              <a:spcAft>
                <a:spcPts val="1200"/>
              </a:spcAft>
              <a:defRPr sz="2000">
                <a:solidFill>
                  <a:srgbClr val="505050"/>
                </a:solidFill>
                <a:latin typeface="Segoe UI"/>
              </a:defRPr>
            </a:pPr>
            <a:r>
              <a:t>• 社内検討用の比較資料（PDF）をメール送付いたします。</a:t>
            </a:r>
          </a:p>
          <a:p>
            <a:pPr>
              <a:spcAft>
                <a:spcPts val="1200"/>
              </a:spcAft>
              <a:defRPr sz="2000">
                <a:solidFill>
                  <a:srgbClr val="505050"/>
                </a:solidFill>
                <a:latin typeface="Segoe UI"/>
              </a:defRPr>
            </a:pPr>
            <a:r>
              <a:t>• ご承認いただけましたら正式発注の手続きをお願いいたします。</a:t>
            </a:r>
          </a:p>
          <a:p>
            <a:pPr>
              <a:spcAft>
                <a:spcPts val="1200"/>
              </a:spcAft>
              <a:defRPr sz="2000">
                <a:solidFill>
                  <a:srgbClr val="505050"/>
                </a:solidFill>
                <a:latin typeface="Segoe UI"/>
              </a:defRPr>
            </a:pPr>
            <a:r>
              <a:t>• 必要に応じて製品デモや技術相談のアレンジも可能です。</a:t>
            </a:r>
          </a:p>
          <a:p>
            <a:pPr>
              <a:spcAft>
                <a:spcPts val="1200"/>
              </a:spcAft>
              <a:defRPr sz="2000">
                <a:solidFill>
                  <a:srgbClr val="505050"/>
                </a:solidFill>
                <a:latin typeface="Segoe UI"/>
              </a:defRPr>
            </a:pPr>
            <a:r>
              <a:t>• 納期および導入スケジュールの最終調整を進めましょう。</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7315200" cy="914400"/>
          </a:xfrm>
          <a:prstGeom prst="rect">
            <a:avLst/>
          </a:prstGeom>
          <a:noFill/>
        </p:spPr>
        <p:txBody>
          <a:bodyPr wrap="none">
            <a:spAutoFit/>
          </a:bodyPr>
          <a:lstStyle/>
          <a:p>
            <a:pPr>
              <a:defRPr sz="3200" b="1">
                <a:solidFill>
                  <a:srgbClr val="2C3E50"/>
                </a:solidFill>
                <a:latin typeface="Segoe UI Semibold"/>
              </a:defRPr>
            </a:pPr>
            <a:r>
              <a:t>Product Comparison</a:t>
            </a:r>
          </a:p>
        </p:txBody>
      </p:sp>
      <p:graphicFrame>
        <p:nvGraphicFramePr>
          <p:cNvPr id="3" name="Table 2"/>
          <p:cNvGraphicFramePr>
            <a:graphicFrameLocks noGrp="1"/>
          </p:cNvGraphicFramePr>
          <p:nvPr/>
        </p:nvGraphicFramePr>
        <p:xfrm>
          <a:off x="457200" y="1371600"/>
          <a:ext cx="8229600" cy="4572000"/>
        </p:xfrm>
        <a:graphic>
          <a:graphicData uri="http://schemas.openxmlformats.org/drawingml/2006/table">
            <a:tbl>
              <a:tblPr firstRow="1" bandRow="1">
                <a:tableStyleId>{5C22544A-7EE6-4342-B048-85BDC9FD1C3A}</a:tableStyleId>
              </a:tblPr>
              <a:tblGrid>
                <a:gridCol w="1175657"/>
                <a:gridCol w="1175657"/>
                <a:gridCol w="1175657"/>
                <a:gridCol w="1175657"/>
                <a:gridCol w="1175657"/>
                <a:gridCol w="1175657"/>
                <a:gridCol w="1175658"/>
              </a:tblGrid>
              <a:tr h="1143000">
                <a:tc>
                  <a:txBody>
                    <a:bodyPr/>
                    <a:lstStyle/>
                    <a:p>
                      <a:pPr>
                        <a:defRPr b="1" sz="1400"/>
                      </a:pPr>
                      <a:r>
                        <a:t>Product Name</a:t>
                      </a:r>
                    </a:p>
                  </a:txBody>
                  <a:tcPr/>
                </a:tc>
                <a:tc>
                  <a:txBody>
                    <a:bodyPr/>
                    <a:lstStyle/>
                    <a:p>
                      <a:pPr>
                        <a:defRPr b="1" sz="1400"/>
                      </a:pPr>
                      <a:r>
                        <a:t>Price</a:t>
                      </a:r>
                    </a:p>
                  </a:txBody>
                  <a:tcPr/>
                </a:tc>
                <a:tc>
                  <a:txBody>
                    <a:bodyPr/>
                    <a:lstStyle/>
                    <a:p>
                      <a:pPr>
                        <a:defRPr b="1" sz="1400"/>
                      </a:pPr>
                      <a:r>
                        <a:t>CPU</a:t>
                      </a:r>
                    </a:p>
                  </a:txBody>
                  <a:tcPr/>
                </a:tc>
                <a:tc>
                  <a:txBody>
                    <a:bodyPr/>
                    <a:lstStyle/>
                    <a:p>
                      <a:pPr>
                        <a:defRPr b="1" sz="1400"/>
                      </a:pPr>
                      <a:r>
                        <a:t>RAM</a:t>
                      </a:r>
                    </a:p>
                  </a:txBody>
                  <a:tcPr/>
                </a:tc>
                <a:tc>
                  <a:txBody>
                    <a:bodyPr/>
                    <a:lstStyle/>
                    <a:p>
                      <a:pPr>
                        <a:defRPr b="1" sz="1400"/>
                      </a:pPr>
                      <a:r>
                        <a:t>Storage</a:t>
                      </a:r>
                    </a:p>
                  </a:txBody>
                  <a:tcPr/>
                </a:tc>
                <a:tc>
                  <a:txBody>
                    <a:bodyPr/>
                    <a:lstStyle/>
                    <a:p>
                      <a:pPr>
                        <a:defRPr b="1" sz="1400"/>
                      </a:pPr>
                      <a:r>
                        <a:t>Warranty</a:t>
                      </a:r>
                    </a:p>
                  </a:txBody>
                  <a:tcPr/>
                </a:tc>
                <a:tc>
                  <a:txBody>
                    <a:bodyPr/>
                    <a:lstStyle/>
                    <a:p>
                      <a:pPr>
                        <a:defRPr b="1" sz="1400"/>
                      </a:pPr>
                      <a:r>
                        <a:t>Support</a:t>
                      </a:r>
                    </a:p>
                  </a:txBody>
                  <a:tcPr/>
                </a:tc>
              </a:tr>
              <a:tr h="1143000">
                <a:tc>
                  <a:txBody>
                    <a:bodyPr/>
                    <a:lstStyle/>
                    <a:p>
                      <a:pPr>
                        <a:defRPr sz="1200"/>
                      </a:pPr>
                      <a:r>
                        <a:t>Product Name Variant 1</a:t>
                      </a:r>
                    </a:p>
                  </a:txBody>
                  <a:tcPr/>
                </a:tc>
                <a:tc>
                  <a:txBody>
                    <a:bodyPr/>
                    <a:lstStyle/>
                    <a:p>
                      <a:pPr>
                        <a:defRPr sz="1200"/>
                      </a:pPr>
                      <a:r>
                        <a:t>¥180,000</a:t>
                      </a:r>
                    </a:p>
                  </a:txBody>
                  <a:tcPr/>
                </a:tc>
                <a:tc>
                  <a:txBody>
                    <a:bodyPr/>
                    <a:lstStyle/>
                    <a:p>
                      <a:pPr>
                        <a:defRPr sz="1200"/>
                      </a:pPr>
                      <a:r>
                        <a:t>Intel Core i7</a:t>
                      </a:r>
                    </a:p>
                  </a:txBody>
                  <a:tcPr/>
                </a:tc>
                <a:tc>
                  <a:txBody>
                    <a:bodyPr/>
                    <a:lstStyle/>
                    <a:p>
                      <a:pPr>
                        <a:defRPr sz="1200"/>
                      </a:pPr>
                      <a:r>
                        <a:t>16GB</a:t>
                      </a:r>
                    </a:p>
                  </a:txBody>
                  <a:tcPr/>
                </a:tc>
                <a:tc>
                  <a:txBody>
                    <a:bodyPr/>
                    <a:lstStyle/>
                    <a:p>
                      <a:pPr>
                        <a:defRPr sz="1200"/>
                      </a:pPr>
                      <a:r>
                        <a:t>512GB SSD</a:t>
                      </a:r>
                    </a:p>
                  </a:txBody>
                  <a:tcPr/>
                </a:tc>
                <a:tc>
                  <a:txBody>
                    <a:bodyPr/>
                    <a:lstStyle/>
                    <a:p>
                      <a:pPr>
                        <a:defRPr sz="1200"/>
                      </a:pPr>
                      <a:r>
                        <a:t>3年間オンサイト保証</a:t>
                      </a:r>
                    </a:p>
                  </a:txBody>
                  <a:tcPr/>
                </a:tc>
                <a:tc>
                  <a:txBody>
                    <a:bodyPr/>
                    <a:lstStyle/>
                    <a:p>
                      <a:pPr>
                        <a:defRPr sz="1200"/>
                      </a:pPr>
                      <a:r>
                        <a:t>日本語電話・チャットサポート</a:t>
                      </a:r>
                    </a:p>
                  </a:txBody>
                  <a:tcPr/>
                </a:tc>
              </a:tr>
              <a:tr h="1143000">
                <a:tc>
                  <a:txBody>
                    <a:bodyPr/>
                    <a:lstStyle/>
                    <a:p>
                      <a:pPr>
                        <a:defRPr sz="1200"/>
                      </a:pPr>
                      <a:r>
                        <a:t>Product Name Variant 2</a:t>
                      </a:r>
                    </a:p>
                  </a:txBody>
                  <a:tcPr/>
                </a:tc>
                <a:tc>
                  <a:txBody>
                    <a:bodyPr/>
                    <a:lstStyle/>
                    <a:p>
                      <a:pPr>
                        <a:defRPr sz="1200"/>
                      </a:pPr>
                      <a:r>
                        <a:t>¥180,000</a:t>
                      </a:r>
                    </a:p>
                  </a:txBody>
                  <a:tcPr/>
                </a:tc>
                <a:tc>
                  <a:txBody>
                    <a:bodyPr/>
                    <a:lstStyle/>
                    <a:p>
                      <a:pPr>
                        <a:defRPr sz="1200"/>
                      </a:pPr>
                      <a:r>
                        <a:t>Intel Core i7</a:t>
                      </a:r>
                    </a:p>
                  </a:txBody>
                  <a:tcPr/>
                </a:tc>
                <a:tc>
                  <a:txBody>
                    <a:bodyPr/>
                    <a:lstStyle/>
                    <a:p>
                      <a:pPr>
                        <a:defRPr sz="1200"/>
                      </a:pPr>
                      <a:r>
                        <a:t>16GB</a:t>
                      </a:r>
                    </a:p>
                  </a:txBody>
                  <a:tcPr/>
                </a:tc>
                <a:tc>
                  <a:txBody>
                    <a:bodyPr/>
                    <a:lstStyle/>
                    <a:p>
                      <a:pPr>
                        <a:defRPr sz="1200"/>
                      </a:pPr>
                      <a:r>
                        <a:t>512GB SSD</a:t>
                      </a:r>
                    </a:p>
                  </a:txBody>
                  <a:tcPr/>
                </a:tc>
                <a:tc>
                  <a:txBody>
                    <a:bodyPr/>
                    <a:lstStyle/>
                    <a:p>
                      <a:pPr>
                        <a:defRPr sz="1200"/>
                      </a:pPr>
                      <a:r>
                        <a:t>3年間オンサイト保証</a:t>
                      </a:r>
                    </a:p>
                  </a:txBody>
                  <a:tcPr/>
                </a:tc>
                <a:tc>
                  <a:txBody>
                    <a:bodyPr/>
                    <a:lstStyle/>
                    <a:p>
                      <a:pPr>
                        <a:defRPr sz="1200"/>
                      </a:pPr>
                      <a:r>
                        <a:t>日本語電話・チャットサポート</a:t>
                      </a:r>
                    </a:p>
                  </a:txBody>
                  <a:tcPr/>
                </a:tc>
              </a:tr>
              <a:tr h="1143000">
                <a:tc>
                  <a:txBody>
                    <a:bodyPr/>
                    <a:lstStyle/>
                    <a:p>
                      <a:pPr>
                        <a:defRPr sz="1200"/>
                      </a:pPr>
                      <a:r>
                        <a:t>Product Name Variant 3</a:t>
                      </a:r>
                    </a:p>
                  </a:txBody>
                  <a:tcPr/>
                </a:tc>
                <a:tc>
                  <a:txBody>
                    <a:bodyPr/>
                    <a:lstStyle/>
                    <a:p>
                      <a:pPr>
                        <a:defRPr sz="1200"/>
                      </a:pPr>
                      <a:r>
                        <a:t>¥180,000</a:t>
                      </a:r>
                    </a:p>
                  </a:txBody>
                  <a:tcPr/>
                </a:tc>
                <a:tc>
                  <a:txBody>
                    <a:bodyPr/>
                    <a:lstStyle/>
                    <a:p>
                      <a:pPr>
                        <a:defRPr sz="1200"/>
                      </a:pPr>
                      <a:r>
                        <a:t>Intel Core i7</a:t>
                      </a:r>
                    </a:p>
                  </a:txBody>
                  <a:tcPr/>
                </a:tc>
                <a:tc>
                  <a:txBody>
                    <a:bodyPr/>
                    <a:lstStyle/>
                    <a:p>
                      <a:pPr>
                        <a:defRPr sz="1200"/>
                      </a:pPr>
                      <a:r>
                        <a:t>16GB</a:t>
                      </a:r>
                    </a:p>
                  </a:txBody>
                  <a:tcPr/>
                </a:tc>
                <a:tc>
                  <a:txBody>
                    <a:bodyPr/>
                    <a:lstStyle/>
                    <a:p>
                      <a:pPr>
                        <a:defRPr sz="1200"/>
                      </a:pPr>
                      <a:r>
                        <a:t>512GB SSD</a:t>
                      </a:r>
                    </a:p>
                  </a:txBody>
                  <a:tcPr/>
                </a:tc>
                <a:tc>
                  <a:txBody>
                    <a:bodyPr/>
                    <a:lstStyle/>
                    <a:p>
                      <a:pPr>
                        <a:defRPr sz="1200"/>
                      </a:pPr>
                      <a:r>
                        <a:t>3年間オンサイト保証</a:t>
                      </a:r>
                    </a:p>
                  </a:txBody>
                  <a:tcPr/>
                </a:tc>
                <a:tc>
                  <a:txBody>
                    <a:bodyPr/>
                    <a:lstStyle/>
                    <a:p>
                      <a:pPr>
                        <a:defRPr sz="1200"/>
                      </a:pPr>
                      <a:r>
                        <a:t>日本語電話・チャットサポート</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