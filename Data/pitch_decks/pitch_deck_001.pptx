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6400800" cy="1828800"/>
          </a:xfrm>
          <a:prstGeom prst="rect">
            <a:avLst/>
          </a:prstGeom>
          <a:noFill/>
        </p:spPr>
        <p:txBody>
          <a:bodyPr wrap="none">
            <a:spAutoFit/>
          </a:bodyPr>
          <a:lstStyle/>
          <a:p>
            <a:pPr algn="ctr">
              <a:defRPr sz="4400" b="1">
                <a:solidFill>
                  <a:srgbClr val="2C3E50"/>
                </a:solidFill>
                <a:latin typeface="Segoe UI Semibold"/>
              </a:defRPr>
            </a:pPr>
            <a:r>
              <a:t>Sales Pitch Deck</a:t>
            </a:r>
          </a:p>
          <a:p>
            <a:pPr algn="ctr">
              <a:defRPr sz="2400">
                <a:solidFill>
                  <a:srgbClr val="3498DB"/>
                </a:solidFill>
                <a:latin typeface="Segoe UI"/>
              </a:defRPr>
            </a:pPr>
            <a:r>
              <a:t>Generated from Quotation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Customer Need</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株式会社クロステック様はコンサルティング業務での効率化を求めています。</a:t>
            </a:r>
          </a:p>
          <a:p>
            <a:pPr>
              <a:spcAft>
                <a:spcPts val="1200"/>
              </a:spcAft>
              <a:defRPr sz="2000">
                <a:solidFill>
                  <a:srgbClr val="505050"/>
                </a:solidFill>
                <a:latin typeface="Segoe UI"/>
              </a:defRPr>
            </a:pPr>
            <a:r>
              <a:t>• 主な用途は資料作成、Zoom会議、軽いグラフィック編集です。</a:t>
            </a:r>
          </a:p>
          <a:p>
            <a:pPr>
              <a:spcAft>
                <a:spcPts val="1200"/>
              </a:spcAft>
              <a:defRPr sz="2000">
                <a:solidFill>
                  <a:srgbClr val="505050"/>
                </a:solidFill>
                <a:latin typeface="Segoe UI"/>
              </a:defRPr>
            </a:pPr>
            <a:r>
              <a:t>• 軽量かつ長時間バッテリー駆動のノートPCが必要です。</a:t>
            </a:r>
          </a:p>
          <a:p>
            <a:pPr>
              <a:spcAft>
                <a:spcPts val="1200"/>
              </a:spcAft>
              <a:defRPr sz="2000">
                <a:solidFill>
                  <a:srgbClr val="505050"/>
                </a:solidFill>
                <a:latin typeface="Segoe UI"/>
              </a:defRPr>
            </a:pPr>
            <a:r>
              <a:t>• 高解像度ディスプレイで画面の見やすさも重視。</a:t>
            </a:r>
          </a:p>
          <a:p>
            <a:pPr>
              <a:spcAft>
                <a:spcPts val="1200"/>
              </a:spcAft>
              <a:defRPr sz="2000">
                <a:solidFill>
                  <a:srgbClr val="505050"/>
                </a:solidFill>
                <a:latin typeface="Segoe UI"/>
              </a:defRPr>
            </a:pPr>
            <a:r>
              <a:t>• 業務の安定性と迅速なトラブル対応が不可欠です。</a:t>
            </a:r>
          </a:p>
          <a:p>
            <a:pPr>
              <a:spcAft>
                <a:spcPts val="1200"/>
              </a:spcAft>
              <a:defRPr sz="2000">
                <a:solidFill>
                  <a:srgbClr val="505050"/>
                </a:solidFill>
                <a:latin typeface="Segoe UI"/>
              </a:defRPr>
            </a:pPr>
            <a:r>
              <a:t>• 3年間のハードウェア保証と翌営業日オンサイト対応が必須条件です。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Our Solution</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高性能かつ軽量な15.6インチノートPCを5台ご提案。</a:t>
            </a:r>
          </a:p>
          <a:p>
            <a:pPr>
              <a:spcAft>
                <a:spcPts val="1200"/>
              </a:spcAft>
              <a:defRPr sz="2000">
                <a:solidFill>
                  <a:srgbClr val="505050"/>
                </a:solidFill>
                <a:latin typeface="Segoe UI"/>
              </a:defRPr>
            </a:pPr>
            <a:r>
              <a:t>• Intel Core i7 第11世代搭載で快適な処理速度を実現。</a:t>
            </a:r>
          </a:p>
          <a:p>
            <a:pPr>
              <a:spcAft>
                <a:spcPts val="1200"/>
              </a:spcAft>
              <a:defRPr sz="2000">
                <a:solidFill>
                  <a:srgbClr val="505050"/>
                </a:solidFill>
                <a:latin typeface="Segoe UI"/>
              </a:defRPr>
            </a:pPr>
            <a:r>
              <a:t>• 最大15時間駆動の長時間バッテリーで外出先でも安心。</a:t>
            </a:r>
          </a:p>
          <a:p>
            <a:pPr>
              <a:spcAft>
                <a:spcPts val="1200"/>
              </a:spcAft>
              <a:defRPr sz="2000">
                <a:solidFill>
                  <a:srgbClr val="505050"/>
                </a:solidFill>
                <a:latin typeface="Segoe UI"/>
              </a:defRPr>
            </a:pPr>
            <a:r>
              <a:t>• 3年間のハードウェア保証と全国対応の翌営業日オンサイトサポート付き。</a:t>
            </a:r>
          </a:p>
          <a:p>
            <a:pPr>
              <a:spcAft>
                <a:spcPts val="1200"/>
              </a:spcAft>
              <a:defRPr sz="2000">
                <a:solidFill>
                  <a:srgbClr val="505050"/>
                </a:solidFill>
                <a:latin typeface="Segoe UI"/>
              </a:defRPr>
            </a:pPr>
            <a:r>
              <a:t>• 法人向け延長保証プランでさらなる安心を提供。</a:t>
            </a:r>
          </a:p>
          <a:p>
            <a:pPr>
              <a:spcAft>
                <a:spcPts val="1200"/>
              </a:spcAft>
              <a:defRPr sz="2000">
                <a:solidFill>
                  <a:srgbClr val="505050"/>
                </a:solidFill>
                <a:latin typeface="Segoe UI"/>
              </a:defRPr>
            </a:pPr>
            <a:r>
              <a:t>• 必要に応じてグラフィック性能強化モデルもご用意可能です。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Product Overview</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モデルC：高性能＆長時間バッテリー15.6インチノートPC</a:t>
            </a:r>
          </a:p>
          <a:p>
            <a:pPr>
              <a:spcAft>
                <a:spcPts val="1200"/>
              </a:spcAft>
              <a:defRPr sz="2000">
                <a:solidFill>
                  <a:srgbClr val="505050"/>
                </a:solidFill>
                <a:latin typeface="Segoe UI"/>
              </a:defRPr>
            </a:pPr>
            <a:r>
              <a:t>• CPU: Intel Core i7 第11世代</a:t>
            </a:r>
          </a:p>
          <a:p>
            <a:pPr>
              <a:spcAft>
                <a:spcPts val="1200"/>
              </a:spcAft>
              <a:defRPr sz="2000">
                <a:solidFill>
                  <a:srgbClr val="505050"/>
                </a:solidFill>
                <a:latin typeface="Segoe UI"/>
              </a:defRPr>
            </a:pPr>
            <a:r>
              <a:t>• メモリ: 16GB</a:t>
            </a:r>
          </a:p>
          <a:p>
            <a:pPr>
              <a:spcAft>
                <a:spcPts val="1200"/>
              </a:spcAft>
              <a:defRPr sz="2000">
                <a:solidFill>
                  <a:srgbClr val="505050"/>
                </a:solidFill>
                <a:latin typeface="Segoe UI"/>
              </a:defRPr>
            </a:pPr>
            <a:r>
              <a:t>• ストレージ: 512GB SSD</a:t>
            </a:r>
          </a:p>
          <a:p>
            <a:pPr>
              <a:spcAft>
                <a:spcPts val="1200"/>
              </a:spcAft>
              <a:defRPr sz="2000">
                <a:solidFill>
                  <a:srgbClr val="505050"/>
                </a:solidFill>
                <a:latin typeface="Segoe UI"/>
              </a:defRPr>
            </a:pPr>
            <a:r>
              <a:t>• ディスプレイ: 15.6インチ フルHD</a:t>
            </a:r>
          </a:p>
          <a:p>
            <a:pPr>
              <a:spcAft>
                <a:spcPts val="1200"/>
              </a:spcAft>
              <a:defRPr sz="2000">
                <a:solidFill>
                  <a:srgbClr val="505050"/>
                </a:solidFill>
                <a:latin typeface="Segoe UI"/>
              </a:defRPr>
            </a:pPr>
            <a:r>
              <a:t>• 重量: 約1.6kg、最大15時間駆動、静音設計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Pricing Breakdown</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ノートPC 5台：900,000円 (1台あたり180,000円)</a:t>
            </a:r>
          </a:p>
          <a:p>
            <a:pPr>
              <a:spcAft>
                <a:spcPts val="1200"/>
              </a:spcAft>
              <a:defRPr sz="2000">
                <a:solidFill>
                  <a:srgbClr val="505050"/>
                </a:solidFill>
                <a:latin typeface="Segoe UI"/>
              </a:defRPr>
            </a:pPr>
            <a:r>
              <a:t>• 法人向け3年延長保証・翌営業日オンサイトサポートプラン 5台分：75,000円</a:t>
            </a:r>
          </a:p>
          <a:p>
            <a:pPr>
              <a:spcAft>
                <a:spcPts val="1200"/>
              </a:spcAft>
              <a:defRPr sz="2000">
                <a:solidFill>
                  <a:srgbClr val="505050"/>
                </a:solidFill>
                <a:latin typeface="Segoe UI"/>
              </a:defRPr>
            </a:pPr>
            <a:r>
              <a:t>• 小計：975,000円</a:t>
            </a:r>
          </a:p>
          <a:p>
            <a:pPr>
              <a:spcAft>
                <a:spcPts val="1200"/>
              </a:spcAft>
              <a:defRPr sz="2000">
                <a:solidFill>
                  <a:srgbClr val="505050"/>
                </a:solidFill>
                <a:latin typeface="Segoe UI"/>
              </a:defRPr>
            </a:pPr>
            <a:r>
              <a:t>• 消費税（10%）：97,500円</a:t>
            </a:r>
          </a:p>
          <a:p>
            <a:pPr>
              <a:spcAft>
                <a:spcPts val="1200"/>
              </a:spcAft>
              <a:defRPr sz="2000">
                <a:solidFill>
                  <a:srgbClr val="505050"/>
                </a:solidFill>
                <a:latin typeface="Segoe UI"/>
              </a:defRPr>
            </a:pPr>
            <a:r>
              <a:t>• 合計金額：1,072,500円</a:t>
            </a:r>
          </a:p>
          <a:p>
            <a:pPr>
              <a:spcAft>
                <a:spcPts val="1200"/>
              </a:spcAft>
              <a:defRPr sz="2000">
                <a:solidFill>
                  <a:srgbClr val="505050"/>
                </a:solidFill>
                <a:latin typeface="Segoe UI"/>
              </a:defRPr>
            </a:pPr>
            <a:r>
              <a:t>• コストパフォーマンスに優れた安心のトータルサポートプラン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Warranty &amp; Support</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3年間のハードウェア保証を標準装備。</a:t>
            </a:r>
          </a:p>
          <a:p>
            <a:pPr>
              <a:spcAft>
                <a:spcPts val="1200"/>
              </a:spcAft>
              <a:defRPr sz="2000">
                <a:solidFill>
                  <a:srgbClr val="505050"/>
                </a:solidFill>
                <a:latin typeface="Segoe UI"/>
              </a:defRPr>
            </a:pPr>
            <a:r>
              <a:t>• 全国対応の翌営業日オンサイトサポートで迅速なトラブル対応。</a:t>
            </a:r>
          </a:p>
          <a:p>
            <a:pPr>
              <a:spcAft>
                <a:spcPts val="1200"/>
              </a:spcAft>
              <a:defRPr sz="2000">
                <a:solidFill>
                  <a:srgbClr val="505050"/>
                </a:solidFill>
                <a:latin typeface="Segoe UI"/>
              </a:defRPr>
            </a:pPr>
            <a:r>
              <a:t>• 法人向け延長保証プランでさらに安心のサポート。</a:t>
            </a:r>
          </a:p>
          <a:p>
            <a:pPr>
              <a:spcAft>
                <a:spcPts val="1200"/>
              </a:spcAft>
              <a:defRPr sz="2000">
                <a:solidFill>
                  <a:srgbClr val="505050"/>
                </a:solidFill>
                <a:latin typeface="Segoe UI"/>
              </a:defRPr>
            </a:pPr>
            <a:r>
              <a:t>• 日本語電話サポート付きでいつでも相談可能。</a:t>
            </a:r>
          </a:p>
          <a:p>
            <a:pPr>
              <a:spcAft>
                <a:spcPts val="1200"/>
              </a:spcAft>
              <a:defRPr sz="2000">
                <a:solidFill>
                  <a:srgbClr val="505050"/>
                </a:solidFill>
                <a:latin typeface="Segoe UI"/>
              </a:defRPr>
            </a:pPr>
            <a:r>
              <a:t>• 大阪支社を含む全国全拠点をカバー。</a:t>
            </a:r>
          </a:p>
          <a:p>
            <a:pPr>
              <a:spcAft>
                <a:spcPts val="1200"/>
              </a:spcAft>
              <a:defRPr sz="2000">
                <a:solidFill>
                  <a:srgbClr val="505050"/>
                </a:solidFill>
                <a:latin typeface="Segoe UI"/>
              </a:defRPr>
            </a:pPr>
            <a:r>
              <a:t>• 安定した業務運用を強力にバックアップします。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Product Comparison</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以下の3モデルでニーズに合わせた選択が可能です。</a:t>
            </a:r>
          </a:p>
          <a:p>
            <a:pPr>
              <a:spcAft>
                <a:spcPts val="1200"/>
              </a:spcAft>
              <a:defRPr sz="2000">
                <a:solidFill>
                  <a:srgbClr val="505050"/>
                </a:solidFill>
                <a:latin typeface="Segoe UI"/>
              </a:defRPr>
            </a:pPr>
            <a:r>
              <a:t>• 全てIntel Core i7 第11世代、16GBメモリ、512GB SSD搭載。</a:t>
            </a:r>
          </a:p>
          <a:p>
            <a:pPr>
              <a:spcAft>
                <a:spcPts val="1200"/>
              </a:spcAft>
              <a:defRPr sz="2000">
                <a:solidFill>
                  <a:srgbClr val="505050"/>
                </a:solidFill>
                <a:latin typeface="Segoe UI"/>
              </a:defRPr>
            </a:pPr>
            <a:r>
              <a:t>• ディスプレイは15.6インチ フルHDで快適な視認性。</a:t>
            </a:r>
          </a:p>
          <a:p>
            <a:pPr>
              <a:spcAft>
                <a:spcPts val="1200"/>
              </a:spcAft>
              <a:defRPr sz="2000">
                <a:solidFill>
                  <a:srgbClr val="505050"/>
                </a:solidFill>
                <a:latin typeface="Segoe UI"/>
              </a:defRPr>
            </a:pPr>
            <a:r>
              <a:t>• 重量は約1.6～1.7kg、バッテリー駆動時間は14～15時間。</a:t>
            </a:r>
          </a:p>
          <a:p>
            <a:pPr>
              <a:spcAft>
                <a:spcPts val="1200"/>
              </a:spcAft>
              <a:defRPr sz="2000">
                <a:solidFill>
                  <a:srgbClr val="505050"/>
                </a:solidFill>
                <a:latin typeface="Segoe UI"/>
              </a:defRPr>
            </a:pPr>
            <a:r>
              <a:t>• 3年間のオンサイト対応保証付きで安心。</a:t>
            </a:r>
          </a:p>
          <a:p>
            <a:pPr>
              <a:spcAft>
                <a:spcPts val="1200"/>
              </a:spcAft>
              <a:defRPr sz="2000">
                <a:solidFill>
                  <a:srgbClr val="505050"/>
                </a:solidFill>
                <a:latin typeface="Segoe UI"/>
              </a:defRPr>
            </a:pPr>
            <a:r>
              <a:t>• グラフィック性能強化モデルはオプション対応可能。</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Delivery Timeline</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ご注文確定後、通常1週間以内に発送。</a:t>
            </a:r>
          </a:p>
          <a:p>
            <a:pPr>
              <a:spcAft>
                <a:spcPts val="1200"/>
              </a:spcAft>
              <a:defRPr sz="2000">
                <a:solidFill>
                  <a:srgbClr val="505050"/>
                </a:solidFill>
                <a:latin typeface="Segoe UI"/>
              </a:defRPr>
            </a:pPr>
            <a:r>
              <a:t>• 納期調整および配送手配を速やかに実施。</a:t>
            </a:r>
          </a:p>
          <a:p>
            <a:pPr>
              <a:spcAft>
                <a:spcPts val="1200"/>
              </a:spcAft>
              <a:defRPr sz="2000">
                <a:solidFill>
                  <a:srgbClr val="505050"/>
                </a:solidFill>
                <a:latin typeface="Segoe UI"/>
              </a:defRPr>
            </a:pPr>
            <a:r>
              <a:t>• 導入前の初期設定やソフトウェアインストールもサポート可能。</a:t>
            </a:r>
          </a:p>
          <a:p>
            <a:pPr>
              <a:spcAft>
                <a:spcPts val="1200"/>
              </a:spcAft>
              <a:defRPr sz="2000">
                <a:solidFill>
                  <a:srgbClr val="505050"/>
                </a:solidFill>
                <a:latin typeface="Segoe UI"/>
              </a:defRPr>
            </a:pPr>
            <a:r>
              <a:t>• 全国対応のオンサイトサポートで大阪支社もカバー。</a:t>
            </a:r>
          </a:p>
          <a:p>
            <a:pPr>
              <a:spcAft>
                <a:spcPts val="1200"/>
              </a:spcAft>
              <a:defRPr sz="2000">
                <a:solidFill>
                  <a:srgbClr val="505050"/>
                </a:solidFill>
                <a:latin typeface="Segoe UI"/>
              </a:defRPr>
            </a:pPr>
            <a:r>
              <a:t>• 迅速な導入で業務効率化を早期実現。</a:t>
            </a:r>
          </a:p>
          <a:p>
            <a:pPr>
              <a:spcAft>
                <a:spcPts val="1200"/>
              </a:spcAft>
              <a:defRPr sz="2000">
                <a:solidFill>
                  <a:srgbClr val="505050"/>
                </a:solidFill>
                <a:latin typeface="Segoe UI"/>
              </a:defRPr>
            </a:pPr>
            <a:r>
              <a:t>• 納期に関するご相談もお気軽にどうぞ。</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Call to Action</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本見積もり内容をご確認のうえ、ご注文の意思表示をお願いいたします。</a:t>
            </a:r>
          </a:p>
          <a:p>
            <a:pPr>
              <a:spcAft>
                <a:spcPts val="1200"/>
              </a:spcAft>
              <a:defRPr sz="2000">
                <a:solidFill>
                  <a:srgbClr val="505050"/>
                </a:solidFill>
                <a:latin typeface="Segoe UI"/>
              </a:defRPr>
            </a:pPr>
            <a:r>
              <a:t>• ご注文確定後、正式な契約書を発行いたします。</a:t>
            </a:r>
          </a:p>
          <a:p>
            <a:pPr>
              <a:spcAft>
                <a:spcPts val="1200"/>
              </a:spcAft>
              <a:defRPr sz="2000">
                <a:solidFill>
                  <a:srgbClr val="505050"/>
                </a:solidFill>
                <a:latin typeface="Segoe UI"/>
              </a:defRPr>
            </a:pPr>
            <a:r>
              <a:t>• 比較資料（PDF）を鈴木様のメールアドレスに送付予定です。</a:t>
            </a:r>
          </a:p>
          <a:p>
            <a:pPr>
              <a:spcAft>
                <a:spcPts val="1200"/>
              </a:spcAft>
              <a:defRPr sz="2000">
                <a:solidFill>
                  <a:srgbClr val="505050"/>
                </a:solidFill>
                <a:latin typeface="Segoe UI"/>
              </a:defRPr>
            </a:pPr>
            <a:r>
              <a:t>• 追加のご質問やカスタマイズのご希望があればご連絡ください。</a:t>
            </a:r>
          </a:p>
          <a:p>
            <a:pPr>
              <a:spcAft>
                <a:spcPts val="1200"/>
              </a:spcAft>
              <a:defRPr sz="2000">
                <a:solidFill>
                  <a:srgbClr val="505050"/>
                </a:solidFill>
                <a:latin typeface="Segoe UI"/>
              </a:defRPr>
            </a:pPr>
            <a:r>
              <a:t>• 最適なITソリューションで貴社の業務効率化を全力で支援します。</a:t>
            </a:r>
          </a:p>
          <a:p>
            <a:pPr>
              <a:spcAft>
                <a:spcPts val="1200"/>
              </a:spcAft>
              <a:defRPr sz="2000">
                <a:solidFill>
                  <a:srgbClr val="505050"/>
                </a:solidFill>
                <a:latin typeface="Segoe UI"/>
              </a:defRPr>
            </a:pPr>
            <a:r>
              <a:t>• ご連絡を心よりお待ちしております。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Product Comparison</a:t>
            </a:r>
          </a:p>
        </p:txBody>
      </p:sp>
      <p:graphicFrame>
        <p:nvGraphicFramePr>
          <p:cNvPr id="3" name="Table 2"/>
          <p:cNvGraphicFramePr>
            <a:graphicFrameLocks noGrp="1"/>
          </p:cNvGraphicFramePr>
          <p:nvPr/>
        </p:nvGraphicFramePr>
        <p:xfrm>
          <a:off x="457200" y="1371600"/>
          <a:ext cx="8229600" cy="45720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1143000">
                <a:tc>
                  <a:txBody>
                    <a:bodyPr/>
                    <a:lstStyle/>
                    <a:p>
                      <a:pPr>
                        <a:defRPr b="1" sz="1400"/>
                      </a:pPr>
                      <a:r>
                        <a:t>Product Name</a:t>
                      </a:r>
                    </a:p>
                  </a:txBody>
                  <a:tcPr/>
                </a:tc>
                <a:tc>
                  <a:txBody>
                    <a:bodyPr/>
                    <a:lstStyle/>
                    <a:p>
                      <a:pPr>
                        <a:defRPr b="1" sz="1400"/>
                      </a:pPr>
                      <a:r>
                        <a:t>Price</a:t>
                      </a:r>
                    </a:p>
                  </a:txBody>
                  <a:tcPr/>
                </a:tc>
                <a:tc>
                  <a:txBody>
                    <a:bodyPr/>
                    <a:lstStyle/>
                    <a:p>
                      <a:pPr>
                        <a:defRPr b="1" sz="1400"/>
                      </a:pPr>
                      <a:r>
                        <a:t>CPU</a:t>
                      </a:r>
                    </a:p>
                  </a:txBody>
                  <a:tcPr/>
                </a:tc>
                <a:tc>
                  <a:txBody>
                    <a:bodyPr/>
                    <a:lstStyle/>
                    <a:p>
                      <a:pPr>
                        <a:defRPr b="1" sz="1400"/>
                      </a:pPr>
                      <a:r>
                        <a:t>RAM</a:t>
                      </a:r>
                    </a:p>
                  </a:txBody>
                  <a:tcPr/>
                </a:tc>
                <a:tc>
                  <a:txBody>
                    <a:bodyPr/>
                    <a:lstStyle/>
                    <a:p>
                      <a:pPr>
                        <a:defRPr b="1" sz="1400"/>
                      </a:pPr>
                      <a:r>
                        <a:t>Storage</a:t>
                      </a:r>
                    </a:p>
                  </a:txBody>
                  <a:tcPr/>
                </a:tc>
                <a:tc>
                  <a:txBody>
                    <a:bodyPr/>
                    <a:lstStyle/>
                    <a:p>
                      <a:pPr>
                        <a:defRPr b="1" sz="1400"/>
                      </a:pPr>
                      <a:r>
                        <a:t>Warranty</a:t>
                      </a:r>
                    </a:p>
                  </a:txBody>
                  <a:tcPr/>
                </a:tc>
                <a:tc>
                  <a:txBody>
                    <a:bodyPr/>
                    <a:lstStyle/>
                    <a:p>
                      <a:pPr>
                        <a:defRPr b="1" sz="1400"/>
                      </a:pPr>
                      <a:r>
                        <a:t>Support</a:t>
                      </a:r>
                    </a:p>
                  </a:txBody>
                  <a:tcPr/>
                </a:tc>
              </a:tr>
              <a:tr h="1143000">
                <a:tc>
                  <a:txBody>
                    <a:bodyPr/>
                    <a:lstStyle/>
                    <a:p>
                      <a:pPr>
                        <a:defRPr sz="1200"/>
                      </a:pPr>
                      <a:r>
                        <a:t>Product Name Variant 1</a:t>
                      </a:r>
                    </a:p>
                  </a:txBody>
                  <a:tcPr/>
                </a:tc>
                <a:tc>
                  <a:txBody>
                    <a:bodyPr/>
                    <a:lstStyle/>
                    <a:p>
                      <a:pPr>
                        <a:defRPr sz="1200"/>
                      </a:pPr>
                      <a:r>
                        <a:t>¥180,000</a:t>
                      </a:r>
                    </a:p>
                  </a:txBody>
                  <a:tcPr/>
                </a:tc>
                <a:tc>
                  <a:txBody>
                    <a:bodyPr/>
                    <a:lstStyle/>
                    <a:p>
                      <a:pPr>
                        <a:defRPr sz="1200"/>
                      </a:pPr>
                      <a:r>
                        <a:t>Intel Core i7 第11世代</a:t>
                      </a:r>
                    </a:p>
                  </a:txBody>
                  <a:tcPr/>
                </a:tc>
                <a:tc>
                  <a:txBody>
                    <a:bodyPr/>
                    <a:lstStyle/>
                    <a:p>
                      <a:pPr>
                        <a:defRPr sz="1200"/>
                      </a:pPr>
                      <a:r>
                        <a:t>16GB</a:t>
                      </a:r>
                    </a:p>
                  </a:txBody>
                  <a:tcPr/>
                </a:tc>
                <a:tc>
                  <a:txBody>
                    <a:bodyPr/>
                    <a:lstStyle/>
                    <a:p>
                      <a:pPr>
                        <a:defRPr sz="1200"/>
                      </a:pPr>
                      <a:r>
                        <a:t>512GB SSD</a:t>
                      </a:r>
                    </a:p>
                  </a:txBody>
                  <a:tcPr/>
                </a:tc>
                <a:tc>
                  <a:txBody>
                    <a:bodyPr/>
                    <a:lstStyle/>
                    <a:p>
                      <a:pPr>
                        <a:defRPr sz="1200"/>
                      </a:pPr>
                      <a:r>
                        <a:t>3年オンサイト対応</a:t>
                      </a:r>
                    </a:p>
                  </a:txBody>
                  <a:tcPr/>
                </a:tc>
                <a:tc>
                  <a:txBody>
                    <a:bodyPr/>
                    <a:lstStyle/>
                    <a:p>
                      <a:pPr>
                        <a:defRPr sz="1200"/>
                      </a:pPr>
                      <a:r>
                        <a:t>翌営業日オンサイトサポート</a:t>
                      </a:r>
                    </a:p>
                  </a:txBody>
                  <a:tcPr/>
                </a:tc>
              </a:tr>
              <a:tr h="1143000">
                <a:tc>
                  <a:txBody>
                    <a:bodyPr/>
                    <a:lstStyle/>
                    <a:p>
                      <a:pPr>
                        <a:defRPr sz="1200"/>
                      </a:pPr>
                      <a:r>
                        <a:t>Product Name Variant 2</a:t>
                      </a:r>
                    </a:p>
                  </a:txBody>
                  <a:tcPr/>
                </a:tc>
                <a:tc>
                  <a:txBody>
                    <a:bodyPr/>
                    <a:lstStyle/>
                    <a:p>
                      <a:pPr>
                        <a:defRPr sz="1200"/>
                      </a:pPr>
                      <a:r>
                        <a:t>¥180,000</a:t>
                      </a:r>
                    </a:p>
                  </a:txBody>
                  <a:tcPr/>
                </a:tc>
                <a:tc>
                  <a:txBody>
                    <a:bodyPr/>
                    <a:lstStyle/>
                    <a:p>
                      <a:pPr>
                        <a:defRPr sz="1200"/>
                      </a:pPr>
                      <a:r>
                        <a:t>Intel Core i7 第11世代</a:t>
                      </a:r>
                    </a:p>
                  </a:txBody>
                  <a:tcPr/>
                </a:tc>
                <a:tc>
                  <a:txBody>
                    <a:bodyPr/>
                    <a:lstStyle/>
                    <a:p>
                      <a:pPr>
                        <a:defRPr sz="1200"/>
                      </a:pPr>
                      <a:r>
                        <a:t>16GB</a:t>
                      </a:r>
                    </a:p>
                  </a:txBody>
                  <a:tcPr/>
                </a:tc>
                <a:tc>
                  <a:txBody>
                    <a:bodyPr/>
                    <a:lstStyle/>
                    <a:p>
                      <a:pPr>
                        <a:defRPr sz="1200"/>
                      </a:pPr>
                      <a:r>
                        <a:t>512GB SSD</a:t>
                      </a:r>
                    </a:p>
                  </a:txBody>
                  <a:tcPr/>
                </a:tc>
                <a:tc>
                  <a:txBody>
                    <a:bodyPr/>
                    <a:lstStyle/>
                    <a:p>
                      <a:pPr>
                        <a:defRPr sz="1200"/>
                      </a:pPr>
                      <a:r>
                        <a:t>3年オンサイト対応</a:t>
                      </a:r>
                    </a:p>
                  </a:txBody>
                  <a:tcPr/>
                </a:tc>
                <a:tc>
                  <a:txBody>
                    <a:bodyPr/>
                    <a:lstStyle/>
                    <a:p>
                      <a:pPr>
                        <a:defRPr sz="1200"/>
                      </a:pPr>
                      <a:r>
                        <a:t>翌営業日オンサイトサポート</a:t>
                      </a:r>
                    </a:p>
                  </a:txBody>
                  <a:tcPr/>
                </a:tc>
              </a:tr>
              <a:tr h="1143000">
                <a:tc>
                  <a:txBody>
                    <a:bodyPr/>
                    <a:lstStyle/>
                    <a:p>
                      <a:pPr>
                        <a:defRPr sz="1200"/>
                      </a:pPr>
                      <a:r>
                        <a:t>Product Name Variant 3</a:t>
                      </a:r>
                    </a:p>
                  </a:txBody>
                  <a:tcPr/>
                </a:tc>
                <a:tc>
                  <a:txBody>
                    <a:bodyPr/>
                    <a:lstStyle/>
                    <a:p>
                      <a:pPr>
                        <a:defRPr sz="1200"/>
                      </a:pPr>
                      <a:r>
                        <a:t>¥180,000</a:t>
                      </a:r>
                    </a:p>
                  </a:txBody>
                  <a:tcPr/>
                </a:tc>
                <a:tc>
                  <a:txBody>
                    <a:bodyPr/>
                    <a:lstStyle/>
                    <a:p>
                      <a:pPr>
                        <a:defRPr sz="1200"/>
                      </a:pPr>
                      <a:r>
                        <a:t>Intel Core i7 第11世代</a:t>
                      </a:r>
                    </a:p>
                  </a:txBody>
                  <a:tcPr/>
                </a:tc>
                <a:tc>
                  <a:txBody>
                    <a:bodyPr/>
                    <a:lstStyle/>
                    <a:p>
                      <a:pPr>
                        <a:defRPr sz="1200"/>
                      </a:pPr>
                      <a:r>
                        <a:t>16GB</a:t>
                      </a:r>
                    </a:p>
                  </a:txBody>
                  <a:tcPr/>
                </a:tc>
                <a:tc>
                  <a:txBody>
                    <a:bodyPr/>
                    <a:lstStyle/>
                    <a:p>
                      <a:pPr>
                        <a:defRPr sz="1200"/>
                      </a:pPr>
                      <a:r>
                        <a:t>512GB SSD</a:t>
                      </a:r>
                    </a:p>
                  </a:txBody>
                  <a:tcPr/>
                </a:tc>
                <a:tc>
                  <a:txBody>
                    <a:bodyPr/>
                    <a:lstStyle/>
                    <a:p>
                      <a:pPr>
                        <a:defRPr sz="1200"/>
                      </a:pPr>
                      <a:r>
                        <a:t>3年オンサイト対応</a:t>
                      </a:r>
                    </a:p>
                  </a:txBody>
                  <a:tcPr/>
                </a:tc>
                <a:tc>
                  <a:txBody>
                    <a:bodyPr/>
                    <a:lstStyle/>
                    <a:p>
                      <a:pPr>
                        <a:defRPr sz="1200"/>
                      </a:pPr>
                      <a:r>
                        <a:t>翌営業日オンサイトサポート</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