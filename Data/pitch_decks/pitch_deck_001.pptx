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27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74" d="100"/>
          <a:sy n="74" d="100"/>
        </p:scale>
        <p:origin x="376" y="6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2708" y="4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commentAuthors" Target="commentAuthors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8/10/relationships/authors" Target="author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6/6/2025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6/6/2025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D808837E-BD65-42A8-A74A-932C1060A7AD}" type="datetimeFigureOut">
              <a:rPr lang="en-IN" smtClean="0"/>
              <a:t>06-06-2025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45CAF638-E7C3-465D-B394-77021136F2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8030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986409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612830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6211365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88355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918214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6081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53867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131585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448700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8246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56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  <p:sldLayoutId id="2147483688" r:id="rId12"/>
    <p:sldLayoutId id="2147483673" r:id="rId13"/>
    <p:sldLayoutId id="2147483676" r:id="rId14"/>
    <p:sldLayoutId id="2147483699" r:id="rId15"/>
    <p:sldLayoutId id="2147483700" r:id="rId16"/>
    <p:sldLayoutId id="2147483692" r:id="rId17"/>
    <p:sldLayoutId id="2147483681" r:id="rId18"/>
    <p:sldLayoutId id="2147483696" r:id="rId19"/>
  </p:sldLayoutIdLst>
  <p:hf hdr="0"/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 lIns="274320" rIns="274320" tIns="182880" bIns="182880">
            <a:spAutoFit/>
          </a:bodyPr>
          <a:lstStyle/>
          <a:p>
            <a:pPr algn="ctr">
              <a:defRPr sz="4800" b="1">
                <a:solidFill>
                  <a:srgbClr val="2C3E50"/>
                </a:solidFill>
                <a:latin typeface="Segoe UI Semibold"/>
              </a:defRPr>
            </a:pPr>
            <a:r>
              <a:t>Sales Pitch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6400800" cy="914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3840480"/>
            <a:ext cx="6400800" cy="9144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none" lIns="274320" rIns="274320" tIns="91440" bIns="91440">
            <a:spAutoFit/>
          </a:bodyPr>
          <a:lstStyle/>
          <a:p>
            <a:pPr algn="ctr">
              <a:defRPr sz="2400">
                <a:solidFill>
                  <a:srgbClr val="3498DB"/>
                </a:solidFill>
                <a:latin typeface="Segoe UI"/>
              </a:defRPr>
            </a:pPr>
            <a:r>
              <a:t>Generated from Quotation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  <a:noFill/>
        </p:spPr>
        <p:txBody>
          <a:bodyPr wrap="none" lIns="274320" rIns="274320" tIns="91440" bIns="91440">
            <a:spAutoFit/>
          </a:bodyPr>
          <a:lstStyle/>
          <a:p>
            <a:pPr algn="ctr">
              <a:defRPr sz="1800">
                <a:solidFill>
                  <a:srgbClr val="646464"/>
                </a:solidFill>
                <a:latin typeface="Segoe UI"/>
              </a:defRPr>
            </a:pPr>
            <a:r>
              <a:t>Professional Technology Solutions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a:eastAsianTheme="minor" sz="3600" b="1">
                <a:solidFill>
                  <a:srgbClr val="2C3E50"/>
                </a:solidFill>
                <a:latin typeface="Yu Gothic UI Semibold"/>
              </a:defRPr>
            </a:pPr>
            <a:r>
              <a:t>お客様のニーズ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最新のRTX 4070 GPUを搭載した高性能ワークステーションを求められています。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グラフィック処理、機械学習、3Dレンダリングなど高度な計算処理に対応。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業務の生産性向上と競争力強化を実現したい。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高速で効率的なデータ処理環境の構築が必要。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信頼性の高いハードウェアとサポート体制を希望。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a:eastAsianTheme="minor" sz="3600" b="1">
                <a:solidFill>
                  <a:srgbClr val="2C3E50"/>
                </a:solidFill>
                <a:latin typeface="Yu Gothic UI Semibold"/>
              </a:defRPr>
            </a:pPr>
            <a:r>
              <a:t>弊社のソリューション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最新のNVIDIA GeForce RTX 4070 GPUを搭載し、高速なレイトレーシングとAI処理能力を提供。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Intel Core i7-13700KプロセッサーでGPU性能を最大限に引き出します。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32GB DDR5メモリで大容量データの高速処理を実現。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1TB NVMe SSDによる高速ストレージでシステム起動とデータアクセスを最適化。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ワークステーション組立および初期設定サービスでスムーズな導入をサポート。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a:eastAsianTheme="minor" sz="3600" b="1">
                <a:solidFill>
                  <a:srgbClr val="2C3E50"/>
                </a:solidFill>
                <a:latin typeface="Yu Gothic UI Semibold"/>
              </a:defRPr>
            </a:pPr>
            <a:r>
              <a:t>製品概要（仕様）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GPU：NVIDIA GeForce RTX 4070（Ada Lovelaceアーキテクチャ搭載）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CPU：Intel Core i7-13700K 高性能マルチコアプロセッサー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メモリ：32GB DDR5 高速大容量メモリ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ストレージ：1TB NVMe SSD 高速アクセス対応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サービス：組立、OSインストール、ドライバ設定を含む初期設定サービス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a:eastAsianTheme="minor" sz="3600" b="1">
                <a:solidFill>
                  <a:srgbClr val="2C3E50"/>
                </a:solidFill>
                <a:latin typeface="Yu Gothic UI Semibold"/>
              </a:defRPr>
            </a:pPr>
            <a:r>
              <a:t>価格内訳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NVIDIA GeForce RTX 4070 グラフィックスカード：80,000円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Intel Core i7-13700K プロセッサー：45,000円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32GB DDR5 メモリ：20,000円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1TB NVMe SSD：15,000円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組立および初期設定サービス：10,000円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合計金額（税込）：187,000円（消費税10%含む）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a:eastAsianTheme="minor" sz="3600" b="1">
                <a:solidFill>
                  <a:srgbClr val="2C3E50"/>
                </a:solidFill>
                <a:latin typeface="Yu Gothic UI Semibold"/>
              </a:defRPr>
            </a:pPr>
            <a:r>
              <a:t>保証とサポート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製品保証期間は購入日より1年間。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納品後に弊社技術者が現地で初期設定と動作確認を実施。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必要に応じて追加カスタマイズやソフトウェアインストールも対応可能。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システムの安定稼働のため定期的なメンテナンスを推奨。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返品は未開封・未使用の場合に限り、納品後14日以内に対応。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a:eastAsianTheme="minor" sz="3600" b="1">
                <a:solidFill>
                  <a:srgbClr val="2C3E50"/>
                </a:solidFill>
                <a:latin typeface="Yu Gothic UI Semibold"/>
              </a:defRPr>
            </a:pPr>
            <a:r>
              <a:t>納期スケジュール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通常7営業日以内に製品を納品。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納品後、技術者による初期設定と動作確認を現地で実施。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納期および導入スケジュールはご注文後に調整。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本見積もりの有効期限は発行日より30日間。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迅速かつ確実な導入をお約束します。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a:eastAsianTheme="minor" sz="3600" b="1">
                <a:solidFill>
                  <a:srgbClr val="2C3E50"/>
                </a:solidFill>
                <a:latin typeface="Yu Gothic UI Semibold"/>
              </a:defRPr>
            </a:pPr>
            <a:r>
              <a:t>次のステップ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本見積もり内容をご確認の上、ご質問やご要望をお知らせください。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ご承認いただけましたら、正式な発注書をお送りください。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発注後、納期と導入スケジュールの調整を行います。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3C3C3C"/>
                </a:solidFill>
                <a:latin typeface="Yu Gothic UI"/>
              </a:defRPr>
            </a:pPr>
            <a:r>
              <a:t>• 最先端技術でお客様のビジネスを加速させましょう。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a:eastAsianTheme="minor" sz="1800">
                <a:solidFill>
                  <a:srgbClr val="505050"/>
                </a:solidFill>
                <a:latin typeface="Yu Gothic UI"/>
              </a:defRPr>
            </a:pPr>
            <a:r>
              <a:t>• ご連絡を心よりお待ちしております。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Segoe UI Semibold"/>
                        </a:defRPr>
                      </a:pPr>
                      <a:r>
                        <a:t>Product Name</a:t>
                      </a:r>
                    </a:p>
                  </a:txBody>
                  <a:tcPr marL="91440" marR="91440" marT="91440" marB="91440"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Segoe UI Semibold"/>
                        </a:defRPr>
                      </a:pPr>
                      <a:r>
                        <a:t>Key Features</a:t>
                      </a:r>
                    </a:p>
                  </a:txBody>
                  <a:tcPr marL="91440" marR="91440" marT="91440" marB="91440"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Segoe UI Semibold"/>
                        </a:defRPr>
                      </a:pPr>
                      <a:r>
                        <a:t>Price</a:t>
                      </a:r>
                    </a:p>
                  </a:txBody>
                  <a:tcPr marL="91440" marR="91440" marT="91440" marB="91440"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Segoe UI Semibold"/>
                        </a:defRPr>
                      </a:pPr>
                      <a:r>
                        <a:t>Vendor</a:t>
                      </a:r>
                    </a:p>
                  </a:txBody>
                  <a:tcPr marL="91440" marR="91440" marT="91440" marB="91440">
                    <a:solidFill>
                      <a:srgbClr val="34495E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NVIDIA RTX 4080</a:t>
                      </a:r>
                    </a:p>
                  </a:txBody>
                  <a:tcPr marL="91440" marR="9144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a:eastAsianTheme="minor" sz="1200">
                          <a:solidFill>
                            <a:srgbClr val="2C3E50"/>
                          </a:solidFill>
                          <a:latin typeface="Yu Gothic UI"/>
                        </a:defRPr>
                      </a:pPr>
                      <a:r>
                        <a:t>16GB GDDR6Xメモリ搭載の高性能グラフィックスカード</a:t>
                      </a:r>
                    </a:p>
                  </a:txBody>
                  <a:tcPr marL="91440" marR="9144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Contact for pricing</a:t>
                      </a:r>
                    </a:p>
                  </a:txBody>
                  <a:tcPr marL="91440" marR="9144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NVIDIA</a:t>
                      </a:r>
                    </a:p>
                  </a:txBody>
                  <a:tcPr marL="91440" marR="91440" marT="91440" marB="91440"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AMD Radeon RX 7900 XTX</a:t>
                      </a:r>
                    </a:p>
                  </a:txBody>
                  <a:tcPr marL="91440" marR="91440" marT="91440" marB="9144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a:eastAsianTheme="minor" sz="1200">
                          <a:solidFill>
                            <a:srgbClr val="2C3E50"/>
                          </a:solidFill>
                          <a:latin typeface="Yu Gothic UI"/>
                        </a:defRPr>
                      </a:pPr>
                      <a:r>
                        <a:t>24GB GDDR6を搭載した強力なゲーミングおよびコンテンツ制作用GPU</a:t>
                      </a:r>
                    </a:p>
                  </a:txBody>
                  <a:tcPr marL="91440" marR="91440" marT="91440" marB="9144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Contact for pricing</a:t>
                      </a:r>
                    </a:p>
                  </a:txBody>
                  <a:tcPr marL="91440" marR="91440" marT="91440" marB="91440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AMD</a:t>
                      </a:r>
                    </a:p>
                  </a:txBody>
                  <a:tcPr marL="91440" marR="91440" marT="91440" marB="91440">
                    <a:solidFill>
                      <a:srgbClr val="F8F9F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NVIDIA RTX 4060 Ti</a:t>
                      </a:r>
                    </a:p>
                  </a:txBody>
                  <a:tcPr marL="91440" marR="9144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a:eastAsianTheme="minor" sz="1200">
                          <a:solidFill>
                            <a:srgbClr val="2C3E50"/>
                          </a:solidFill>
                          <a:latin typeface="Yu Gothic UI"/>
                        </a:defRPr>
                      </a:pPr>
                      <a:r>
                        <a:t>優れたコストパフォーマンスを持つミッドレンジゲーミングGPU</a:t>
                      </a:r>
                    </a:p>
                  </a:txBody>
                  <a:tcPr marL="91440" marR="9144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Contact for pricing</a:t>
                      </a:r>
                    </a:p>
                  </a:txBody>
                  <a:tcPr marL="91440" marR="91440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NVIDIA</a:t>
                      </a:r>
                    </a:p>
                  </a:txBody>
                  <a:tcPr marL="91440" marR="91440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TM16401371[[fn=Atlas]]</Template>
  <TotalTime>20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Rockwell</vt:lpstr>
      <vt:lpstr>Wingdings</vt:lpstr>
      <vt:lpstr>Atlas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Nandini S</dc:creator>
  <cp:lastModifiedBy>Nandini S</cp:lastModifiedBy>
  <cp:revision>5</cp:revision>
  <dcterms:created xsi:type="dcterms:W3CDTF">2025-06-06T03:18:01Z</dcterms:created>
  <dcterms:modified xsi:type="dcterms:W3CDTF">2025-06-06T04:39:29Z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