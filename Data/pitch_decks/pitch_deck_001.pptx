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51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09" autoAdjust="0"/>
  </p:normalViewPr>
  <p:slideViewPr>
    <p:cSldViewPr snapToGrid="0">
      <p:cViewPr varScale="1">
        <p:scale>
          <a:sx n="74" d="100"/>
          <a:sy n="74" d="100"/>
        </p:scale>
        <p:origin x="376" y="64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2708" y="4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commentAuthors" Target="commentAuthors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8/10/relationships/authors" Target="author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7/9/2025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7/9/2025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image" Target="../media/image11.png"/><Relationship Id="rId5" Type="http://schemas.openxmlformats.org/officeDocument/2006/relationships/image" Target="../media/image12.svg"/><Relationship Id="rId6" Type="http://schemas.openxmlformats.org/officeDocument/2006/relationships/image" Target="../media/image13.png"/><Relationship Id="rId7" Type="http://schemas.openxmlformats.org/officeDocument/2006/relationships/image" Target="../media/image14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8837E-BD65-42A8-A74A-932C1060A7AD}" type="datetimeFigureOut">
              <a:rPr lang="en-IN" smtClean="0"/>
              <a:t>09-07-2025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AF638-E7C3-465D-B394-77021136F2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7700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593731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59886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2346502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7716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41258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7184649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759956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17138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094335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96049585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5986564"/>
      </p:ext>
    </p:extLst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01262734"/>
      </p:ext>
    </p:extLst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838054"/>
      </p:ext>
    </p:extLst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8353836"/>
      </p:ext>
    </p:extLst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407293"/>
      </p:ext>
    </p:extLst>
  </p:cSld>
  <p:clrMapOvr>
    <a:masterClrMapping/>
  </p:clrMapOvr>
  <p:hf hd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129698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26261" y="5280763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7938210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Date Placeholder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20XX</a:t>
            </a:r>
          </a:p>
        </p:txBody>
      </p:sp>
      <p:sp>
        <p:nvSpPr>
          <p:cNvPr id="37" name="Footer Placeholder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Pitch Deck</a:t>
            </a:r>
          </a:p>
        </p:txBody>
      </p:sp>
      <p:sp>
        <p:nvSpPr>
          <p:cNvPr id="38" name="Slide Number Placeholder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5756781-A599-0594-4502-A54BC85E87F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8199" y="2136775"/>
            <a:ext cx="10515599" cy="3697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62665" y="5120722"/>
            <a:ext cx="2342205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98609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9023074" y="5120366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051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2" r:id="rId1"/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  <p:sldLayoutId id="2147483765" r:id="rId14"/>
    <p:sldLayoutId id="2147483766" r:id="rId15"/>
    <p:sldLayoutId id="2147483767" r:id="rId16"/>
    <p:sldLayoutId id="2147483688" r:id="rId17"/>
    <p:sldLayoutId id="2147483673" r:id="rId18"/>
    <p:sldLayoutId id="2147483676" r:id="rId19"/>
    <p:sldLayoutId id="2147483699" r:id="rId20"/>
    <p:sldLayoutId id="2147483700" r:id="rId21"/>
    <p:sldLayoutId id="2147483692" r:id="rId22"/>
    <p:sldLayoutId id="2147483681" r:id="rId23"/>
    <p:sldLayoutId id="2147483696" r:id="rId24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7315200" cy="1371600"/>
          </a:xfrm>
          <a:prstGeom prst="rect">
            <a:avLst/>
          </a:prstGeom>
          <a:noFill/>
        </p:spPr>
        <p:txBody>
          <a:bodyPr wrap="none" lIns="274320" rIns="274320" tIns="182880" bIns="182880">
            <a:spAutoFit/>
          </a:bodyPr>
          <a:lstStyle/>
          <a:p>
            <a:pPr algn="ctr">
              <a:defRPr sz="5400" a:eastAsiaTheme="minor">
                <a:solidFill>
                  <a:srgbClr val="C0392B"/>
                </a:solidFill>
              </a:defRPr>
            </a:pPr>
            <a:r>
              <a:rPr a:ea="Noto Sans CJK JP">
                <a:latin typeface="Noto Sans CJK JP"/>
              </a:rPr>
              <a:t>お客様のニーズ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914400"/>
            <a:ext cx="6400800" cy="10972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286000"/>
            <a:ext cx="6400800" cy="10972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 lIns="274320" rIns="274320" tIns="91440" bIns="91440">
            <a:spAutoFit/>
          </a:bodyPr>
          <a:lstStyle/>
          <a:p>
            <a:pPr algn="ctr">
              <a:defRPr a:eastAsianTheme="minor" sz="2800">
                <a:solidFill>
                  <a:srgbClr val="E74C3C"/>
                </a:solidFill>
                <a:latin typeface="Noto Sans CJK JP"/>
              </a:defRPr>
            </a:pPr>
            <a:r>
              <a:t>大塚株式会社からの製品見積書</a:t>
            </a:r>
          </a:p>
        </p:txBody>
      </p:sp>
      <p:pic>
        <p:nvPicPr>
          <p:cNvPr id="6" name="Picture 5" descr="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943600"/>
            <a:ext cx="914400" cy="60484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sz="3800" b="1" a:eastAsiaTheme="minor">
                <a:solidFill>
                  <a:srgbClr val="C0392B"/>
                </a:solidFill>
              </a:defRPr>
            </a:pPr>
            <a:r>
              <a:rPr a:ea="Noto Sans CJK JP">
                <a:latin typeface="Noto Sans CJK JP"/>
              </a:rPr>
              <a:t>お客様のニーズ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最新のRTX 4070を含む高性能GPUの導入を検討中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781414"/>
                </a:solidFill>
                <a:latin typeface="Noto Sans CJK JP"/>
              </a:defRPr>
            </a:pPr>
            <a:r>
              <a:t>• 高精度なグラフィックス処理とAI・機械学習用途に最適な製品を求めている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業務効率化と技術革新を実現したい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781414"/>
                </a:solidFill>
                <a:latin typeface="Noto Sans CJK JP"/>
              </a:defRPr>
            </a:pPr>
            <a:r>
              <a:t>• 信頼性の高いGPUソリューションが必要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将来的な拡張性と安定性を重視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2</a:t>
            </a:r>
          </a:p>
        </p:txBody>
      </p:sp>
      <p:pic>
        <p:nvPicPr>
          <p:cNvPr id="6" name="Picture 5" descr="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914400" cy="60484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sz="3800" b="1" a:eastAsiaTheme="minor">
                <a:solidFill>
                  <a:srgbClr val="C0392B"/>
                </a:solidFill>
              </a:defRPr>
            </a:pPr>
            <a:r>
              <a:rPr a:ea="Noto Sans CJK JP">
                <a:latin typeface="Noto Sans CJK JP"/>
              </a:rPr>
              <a:t>弊社のソリューション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最新世代のNVIDIA GeForce RTX 4070およびRTX 4080を提供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781414"/>
                </a:solidFill>
                <a:latin typeface="Noto Sans CJK JP"/>
              </a:defRPr>
            </a:pPr>
            <a:r>
              <a:t>• 高性能GPUに最適化されたドライバーと技術サポートをセットでご提案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AIモデルのトレーニングや大規模データ処理にも対応可能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781414"/>
                </a:solidFill>
                <a:latin typeface="Noto Sans CJK JP"/>
              </a:defRPr>
            </a:pPr>
            <a:r>
              <a:t>• 業務効率化と技術革新を強力にサポート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信頼性の高い製品とサービスで安心の導入を実現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3</a:t>
            </a:r>
          </a:p>
        </p:txBody>
      </p:sp>
      <p:pic>
        <p:nvPicPr>
          <p:cNvPr id="6" name="Picture 5" descr="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914400" cy="60484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sz="3800" b="1" a:eastAsiaTheme="minor">
                <a:solidFill>
                  <a:srgbClr val="C0392B"/>
                </a:solidFill>
              </a:defRPr>
            </a:pPr>
            <a:r>
              <a:rPr a:ea="Noto Sans CJK JP">
                <a:latin typeface="Noto Sans CJK JP"/>
              </a:rPr>
              <a:t>製品概要（仕様）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NVIDIA GeForce RTX 4070：最新世代GPU、優れたグラフィックス性能とAI処理能力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781414"/>
                </a:solidFill>
                <a:latin typeface="Noto Sans CJK JP"/>
              </a:defRPr>
            </a:pPr>
            <a:r>
              <a:t>• NVIDIA GeForce RTX 4080：RTX 4070より高性能、大規模AIモデルのトレーニングに最適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GPU最適化ドライバーおよび技術サポートサービスを含む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781414"/>
                </a:solidFill>
                <a:latin typeface="Noto Sans CJK JP"/>
              </a:defRPr>
            </a:pPr>
            <a:r>
              <a:t>• GPU設置には適切な電源と冷却環境が必要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ドライバーインストールはリモートまたはオンサイト対応可能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4</a:t>
            </a:r>
          </a:p>
        </p:txBody>
      </p:sp>
      <p:pic>
        <p:nvPicPr>
          <p:cNvPr id="6" name="Picture 5" descr="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914400" cy="60484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sz="3800" b="1" a:eastAsiaTheme="minor">
                <a:solidFill>
                  <a:srgbClr val="C0392B"/>
                </a:solidFill>
              </a:defRPr>
            </a:pPr>
            <a:r>
              <a:rPr a:ea="Noto Sans CJK JP">
                <a:latin typeface="Noto Sans CJK JP"/>
              </a:rPr>
              <a:t>価格内訳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NVIDIA GeForce RTX 4070：70,000円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781414"/>
                </a:solidFill>
                <a:latin typeface="Noto Sans CJK JP"/>
              </a:defRPr>
            </a:pPr>
            <a:r>
              <a:t>• NVIDIA GeForce RTX 4080：120,000円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GPU最適化ドライバーおよびサポート：15,000円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781414"/>
                </a:solidFill>
                <a:latin typeface="Noto Sans CJK JP"/>
              </a:defRPr>
            </a:pPr>
            <a:r>
              <a:t>• 小計：205,000円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消費税（10%）：20,500円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781414"/>
                </a:solidFill>
                <a:latin typeface="Noto Sans CJK JP"/>
              </a:defRPr>
            </a:pPr>
            <a:r>
              <a:t>• 合計金額：225,500円（税別・税込含む）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5</a:t>
            </a:r>
          </a:p>
        </p:txBody>
      </p:sp>
      <p:pic>
        <p:nvPicPr>
          <p:cNvPr id="6" name="Picture 5" descr="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914400" cy="60484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sz="3800" b="1" a:eastAsiaTheme="minor">
                <a:solidFill>
                  <a:srgbClr val="C0392B"/>
                </a:solidFill>
              </a:defRPr>
            </a:pPr>
            <a:r>
              <a:rPr a:ea="Noto Sans CJK JP">
                <a:latin typeface="Noto Sans CJK JP"/>
              </a:rPr>
              <a:t>保証とサポート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購入日より1年間の製品保証を提供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781414"/>
                </a:solidFill>
                <a:latin typeface="Noto Sans CJK JP"/>
              </a:defRPr>
            </a:pPr>
            <a:r>
              <a:t>• 保証期間内は無償の技術サポートを実施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GPU性能を最大限に引き出す最適化ドライバーの提供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781414"/>
                </a:solidFill>
                <a:latin typeface="Noto Sans CJK JP"/>
              </a:defRPr>
            </a:pPr>
            <a:r>
              <a:t>• 技術スタッフによるリモートまたはオンサイトサポート対応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信頼性の高いアフターサービスで安心の運用をサポート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6</a:t>
            </a:r>
          </a:p>
        </p:txBody>
      </p:sp>
      <p:pic>
        <p:nvPicPr>
          <p:cNvPr id="6" name="Picture 5" descr="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914400" cy="60484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sz="3800" b="1" a:eastAsiaTheme="minor">
                <a:solidFill>
                  <a:srgbClr val="C0392B"/>
                </a:solidFill>
              </a:defRPr>
            </a:pPr>
            <a:r>
              <a:rPr a:ea="Noto Sans CJK JP">
                <a:latin typeface="Noto Sans CJK JP"/>
              </a:rPr>
              <a:t>納期スケジュール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本見積もりの有効期限は発行日より30日間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781414"/>
                </a:solidFill>
                <a:latin typeface="Noto Sans CJK JP"/>
              </a:defRPr>
            </a:pPr>
            <a:r>
              <a:t>• 製品納期は注文確定後、約2週間での納品予定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注文確定後に納期と設置スケジュールを調整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781414"/>
                </a:solidFill>
                <a:latin typeface="Noto Sans CJK JP"/>
              </a:defRPr>
            </a:pPr>
            <a:r>
              <a:t>• 設置には適切な電源と冷却環境のご準備を推奨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2000">
                <a:solidFill>
                  <a:srgbClr val="505050"/>
                </a:solidFill>
                <a:latin typeface="Noto Sans CJK JP"/>
              </a:defRPr>
            </a:pPr>
            <a:r>
              <a:t>• 導入後のサポート体制も万全にご案内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7</a:t>
            </a:r>
          </a:p>
        </p:txBody>
      </p:sp>
      <p:pic>
        <p:nvPicPr>
          <p:cNvPr id="6" name="Picture 5" descr="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914400" cy="60484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Red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966C46A-DC57-4209-80CD-9FE6C93151F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E18436D-DA32-4E27-AC64-8FFEDA5218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EFFFA3F-0FB5-4ED3-8906-A15B16577F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Calibri</vt:lpstr>
      <vt:lpstr>Trebuchet MS</vt:lpstr>
      <vt:lpstr>Wingdings 3</vt:lpstr>
      <vt:lpstr>Facet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Nandini S</dc:creator>
  <cp:lastModifiedBy>Nandini S</cp:lastModifiedBy>
  <cp:revision>9</cp:revision>
  <dcterms:created xsi:type="dcterms:W3CDTF">2025-06-06T03:18:01Z</dcterms:created>
  <dcterms:modified xsi:type="dcterms:W3CDTF">2025-07-09T02:20:35Z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