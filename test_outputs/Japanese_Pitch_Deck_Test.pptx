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1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8837E-BD65-42A8-A74A-932C1060A7A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70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9373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988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4650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7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125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8464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995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1713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9433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04958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8656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26273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3805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5383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40729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5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688" r:id="rId17"/>
    <p:sldLayoutId id="2147483673" r:id="rId18"/>
    <p:sldLayoutId id="2147483676" r:id="rId19"/>
    <p:sldLayoutId id="2147483699" r:id="rId20"/>
    <p:sldLayoutId id="2147483700" r:id="rId21"/>
    <p:sldLayoutId id="2147483692" r:id="rId22"/>
    <p:sldLayoutId id="2147483681" r:id="rId23"/>
    <p:sldLayoutId id="2147483696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4177" y="1097280"/>
            <a:ext cx="8863965" cy="2031325"/>
          </a:xfrm>
          <a:prstGeom prst="rect">
            <a:avLst/>
          </a:prstGeom>
          <a:noFill/>
        </p:spPr>
        <p:txBody>
          <a:bodyPr wrap="none" lIns="274320" tIns="182880" rIns="274320" bIns="182880">
            <a:spAutoFit/>
          </a:bodyPr>
          <a:lstStyle/>
          <a:p>
            <a:pPr algn="ctr">
              <a:defRPr sz="5400">
                <a:solidFill>
                  <a:srgbClr val="C0392B"/>
                </a:solidFill>
              </a:defRPr>
            </a:pPr>
            <a:r>
              <a:rPr lang="ja-JP" altLang="en-US" sz="5400"/>
              <a:t>営業用プレゼンテーション</a:t>
            </a:r>
          </a:p>
          <a:p>
            <a:pPr algn="ctr">
              <a:defRPr sz="5400">
                <a:solidFill>
                  <a:srgbClr val="C0392B"/>
                </a:solidFill>
              </a:defRPr>
            </a:pPr>
            <a:endParaRPr dirty="0">
              <a:latin typeface="Noto Sans CJK JP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 lIns="274320" tIns="91440" rIns="274320" bIns="91440">
            <a:spAutoFit/>
          </a:bodyPr>
          <a:lstStyle/>
          <a:p>
            <a:pPr algn="ctr">
              <a:defRPr sz="2800">
                <a:solidFill>
                  <a:srgbClr val="E74C3C"/>
                </a:solidFill>
                <a:latin typeface="Noto Sans CJK JP"/>
              </a:defRPr>
            </a:pPr>
            <a:r>
              <a:t>大塚株式会社からのノートパソコン見積書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0"/>
            <a:ext cx="914400" cy="604846"/>
          </a:xfrm>
          <a:prstGeom prst="rect">
            <a:avLst/>
          </a:prstGeom>
        </p:spPr>
      </p:pic>
      <p:pic>
        <p:nvPicPr>
          <p:cNvPr id="7" name="Picture 6" descr="works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4114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tIns="91440" rIns="18288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</a:defRPr>
            </a:pPr>
            <a:r>
              <a:rPr>
                <a:latin typeface="Noto Sans CJK JP"/>
              </a:rPr>
              <a:t>お客様のニーズ分析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ビジネス要件の理解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技術的な課題と機会の特定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現在のインフラの制約評価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スケーラビリティと成長ニーズの決定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予算とタイムラインの制約評価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tIns="91440" rIns="18288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</a:defRPr>
            </a:pPr>
            <a:r>
              <a:rPr>
                <a:latin typeface="Noto Sans CJK JP"/>
              </a:rPr>
              <a:t>包括的なソリューション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お客様のビジネスに合わせたテクノロジーソリューション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業界をリードする製品とサービス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既存システムとのシームレスな統合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包括的なサポートとメンテナンス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将来に対応したスケーラブルなアーキテクチャ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tIns="91440" rIns="18288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</a:defRPr>
            </a:pPr>
            <a:r>
              <a:rPr>
                <a:latin typeface="Noto Sans CJK JP"/>
              </a:rPr>
              <a:t>製品概要と仕様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高性能ハードウェアコンポーネント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エンタープライズグレードソフトウェアソリューション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高度なセキュリティ機能とプロトコル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信頼性の高いパフォーマンスと稼働時間保証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エネルギー効率的で持続可能な設計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tIns="91440" rIns="18288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</a:defRPr>
            </a:pPr>
            <a:r>
              <a:rPr>
                <a:latin typeface="Noto Sans CJK JP"/>
              </a:rPr>
              <a:t>投資と価格の内訳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プレミアムソリューションの競争力のある価格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隠れた料金のない透明なコスト構造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柔軟な支払いオプションと融資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大量購入の場合のボリュームディスカウント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費用対効果の高い総所有コストモデル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tIns="91440" rIns="18288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</a:defRPr>
            </a:pPr>
            <a:r>
              <a:rPr>
                <a:latin typeface="Noto Sans CJK JP"/>
              </a:rPr>
              <a:t>保証とサポートサービス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包括的な保証カバレッジ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24時間365日の技術サポート体制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オンサイトサービスとメンテナンス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リモート監視と診断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定期的なアップデートとシステム最適化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tIns="91440" rIns="18288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</a:defRPr>
            </a:pPr>
            <a:r>
              <a:rPr>
                <a:latin typeface="Noto Sans CJK JP"/>
              </a:rPr>
              <a:t>配送スケジュールと実装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効率的なプロジェクト計画と実行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日常業務への最小限の影響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段階的な実装アプローチ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スタッフトレーニングと知識移転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実装後のサポートと最適化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tIns="91440" rIns="18288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</a:defRPr>
            </a:pPr>
            <a:r>
              <a:rPr>
                <a:latin typeface="Noto Sans CJK JP"/>
              </a:rPr>
              <a:t>次のステップとお取引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詳細な技術コンサルテーションのスケジューリング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ソリューション仕様の確認と最終化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プロジェクトタイムラインとマイルストーンの確認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Noto Sans CJK JP"/>
              </a:defRPr>
            </a:pPr>
            <a:r>
              <a:t>• 契約書に署名し、実装を開始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Noto Sans CJK JP"/>
              </a:defRPr>
            </a:pPr>
            <a:r>
              <a:t>• 技術エクセレンスへの旅を始めましょう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tIns="91440" rIns="182880" bIns="91440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Noto Sans CJK JP"/>
              </a:defRPr>
            </a:pPr>
            <a:r>
              <a:t>製品比較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製品名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主な機能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価格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販売元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Noto Sans CJK JP"/>
                        </a:defRPr>
                      </a:pPr>
                      <a:r>
                        <a:t>HP エリートブック 860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Noto Sans CJK JP"/>
                        </a:defRPr>
                      </a:pPr>
                      <a:r>
                        <a:t>インテル Core i7 • 32GB メモリ • 1TB SSD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¥284,998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Noto Sans CJK JP"/>
                        </a:defRPr>
                      </a:pPr>
                      <a:r>
                        <a:t>HPインク株式会社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Noto Sans CJK JP"/>
                        </a:defRPr>
                      </a:pPr>
                      <a:r>
                        <a:t>レノボ ThinkPad P1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Noto Sans CJK JP"/>
                        </a:defRPr>
                      </a:pPr>
                      <a:r>
                        <a:t>インテル Core i9 • 64GB メモリ • 2TB SSD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¥374,998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Noto Sans CJK JP"/>
                        </a:defRPr>
                      </a:pPr>
                      <a:r>
                        <a:t>レノボ株式会社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Noto Sans CJK JP"/>
                        </a:defRPr>
                      </a:pPr>
                      <a:r>
                        <a:t>アップル MacBook Pro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Noto Sans CJK JP"/>
                        </a:defRPr>
                      </a:pPr>
                      <a:r>
                        <a:t>アップル M2 Pro • 32GB メモリ • 1TB SSD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¥404,998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Noto Sans CJK JP"/>
                        </a:defRPr>
                      </a:pPr>
                      <a:r>
                        <a:t>アップル株式会社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153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Noto Sans CJK JP</vt:lpstr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10</cp:revision>
  <dcterms:created xsi:type="dcterms:W3CDTF">2025-06-06T03:18:01Z</dcterms:created>
  <dcterms:modified xsi:type="dcterms:W3CDTF">2025-07-10T22:06:22Z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