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27" r:id="rId4"/>
  </p:sldMasterIdLst>
  <p:notesMasterIdLst>
    <p:notesMasterId r:id="rId5"/>
  </p:notesMasterIdLst>
  <p:handoutMasterIdLst>
    <p:handoutMasterId r:id="rId6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09" autoAdjust="0"/>
  </p:normalViewPr>
  <p:slideViewPr>
    <p:cSldViewPr snapToGrid="0">
      <p:cViewPr varScale="1">
        <p:scale>
          <a:sx n="74" d="100"/>
          <a:sy n="74" d="100"/>
        </p:scale>
        <p:origin x="376" y="64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2708" y="4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commentAuthors" Target="commentAuthors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8/10/relationships/authors" Target="authors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6/6/2025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6/6/2025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11.png"/><Relationship Id="rId5" Type="http://schemas.openxmlformats.org/officeDocument/2006/relationships/image" Target="../media/image12.svg"/><Relationship Id="rId6" Type="http://schemas.openxmlformats.org/officeDocument/2006/relationships/image" Target="../media/image13.png"/><Relationship Id="rId7" Type="http://schemas.openxmlformats.org/officeDocument/2006/relationships/image" Target="../media/image14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D808837E-BD65-42A8-A74A-932C1060A7AD}" type="datetimeFigureOut">
              <a:rPr lang="en-IN" smtClean="0"/>
              <a:t>06-06-2025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45CAF638-E7C3-465D-B394-77021136F2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8030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8986409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612830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6211365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883555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8918214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60814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538670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1315858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2448700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182469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564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  <p:sldLayoutId id="2147483688" r:id="rId12"/>
    <p:sldLayoutId id="2147483673" r:id="rId13"/>
    <p:sldLayoutId id="2147483676" r:id="rId14"/>
    <p:sldLayoutId id="2147483699" r:id="rId15"/>
    <p:sldLayoutId id="2147483700" r:id="rId16"/>
    <p:sldLayoutId id="2147483692" r:id="rId17"/>
    <p:sldLayoutId id="2147483681" r:id="rId18"/>
    <p:sldLayoutId id="2147483696" r:id="rId19"/>
  </p:sldLayoutIdLst>
  <p:hf hdr="0"/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 lIns="274320" rIns="274320" tIns="182880" bIns="182880">
            <a:spAutoFit/>
          </a:bodyPr>
          <a:lstStyle/>
          <a:p>
            <a:pPr algn="ctr">
              <a:defRPr sz="4800" b="1">
                <a:solidFill>
                  <a:srgbClr val="2C3E50"/>
                </a:solidFill>
                <a:latin typeface="Segoe UI Semibold"/>
              </a:defRPr>
            </a:pPr>
            <a:r>
              <a:t>Sales Pitch Deck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6400800" cy="914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3840480"/>
            <a:ext cx="6400800" cy="914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 lIns="274320" rIns="274320" tIns="91440" bIns="91440">
            <a:spAutoFit/>
          </a:bodyPr>
          <a:lstStyle/>
          <a:p>
            <a:pPr algn="ctr">
              <a:defRPr sz="2400">
                <a:solidFill>
                  <a:srgbClr val="3498DB"/>
                </a:solidFill>
                <a:latin typeface="Segoe UI"/>
              </a:defRPr>
            </a:pPr>
            <a:r>
              <a:t>Generated from Quotation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7315200" cy="914400"/>
          </a:xfrm>
          <a:prstGeom prst="rect">
            <a:avLst/>
          </a:prstGeom>
          <a:noFill/>
        </p:spPr>
        <p:txBody>
          <a:bodyPr wrap="none" lIns="274320" rIns="274320" tIns="91440" bIns="91440">
            <a:spAutoFit/>
          </a:bodyPr>
          <a:lstStyle/>
          <a:p>
            <a:pPr algn="ctr">
              <a:defRPr sz="1800">
                <a:solidFill>
                  <a:srgbClr val="646464"/>
                </a:solidFill>
                <a:latin typeface="Segoe UI"/>
              </a:defRPr>
            </a:pPr>
            <a:r>
              <a:t>Professional Technology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rIns="182880" tIns="91440" bIns="91440">
            <a:spAutoFit/>
          </a:bodyPr>
          <a:lstStyle/>
          <a:p>
            <a:pPr algn="ctr">
              <a:defRPr sz="3600" b="1">
                <a:solidFill>
                  <a:srgbClr val="2C3E50"/>
                </a:solidFill>
                <a:latin typeface="Segoe UI Semibold"/>
              </a:defRPr>
            </a:pPr>
            <a:r>
              <a:t>Customer Needs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45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50292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505050"/>
                </a:solidFill>
                <a:latin typeface="Segoe UI"/>
              </a:defRPr>
            </a:pPr>
            <a:r>
              <a:t>• Understanding your business requirements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• Identifying technology gaps and opportunities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505050"/>
                </a:solidFill>
                <a:latin typeface="Segoe UI"/>
              </a:defRPr>
            </a:pPr>
            <a:r>
              <a:t>• Assessing current infrastructure limitations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• Determining scalability and growth needs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505050"/>
                </a:solidFill>
                <a:latin typeface="Segoe UI"/>
              </a:defRPr>
            </a:pPr>
            <a:r>
              <a:t>• Evaluating budget and timeline 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583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Segoe U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rIns="182880" tIns="91440" bIns="91440">
            <a:spAutoFit/>
          </a:bodyPr>
          <a:lstStyle/>
          <a:p>
            <a:pPr algn="ctr">
              <a:defRPr sz="3600" b="1">
                <a:solidFill>
                  <a:srgbClr val="2C3E50"/>
                </a:solidFill>
                <a:latin typeface="Segoe UI Semibold"/>
              </a:defRPr>
            </a:pPr>
            <a:r>
              <a:t>Our Comprehensive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45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50292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505050"/>
                </a:solidFill>
                <a:latin typeface="Segoe UI"/>
              </a:defRPr>
            </a:pPr>
            <a:r>
              <a:t>• Tailored technology solutions for your business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• Industry-leading products and services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505050"/>
                </a:solidFill>
                <a:latin typeface="Segoe UI"/>
              </a:defRPr>
            </a:pPr>
            <a:r>
              <a:t>• Seamless integration with existing systems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• Comprehensive support and maintenance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505050"/>
                </a:solidFill>
                <a:latin typeface="Segoe UI"/>
              </a:defRPr>
            </a:pPr>
            <a:r>
              <a:t>• Future-ready scalable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583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Segoe U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rIns="182880" tIns="91440" bIns="91440">
            <a:spAutoFit/>
          </a:bodyPr>
          <a:lstStyle/>
          <a:p>
            <a:pPr algn="ctr">
              <a:defRPr sz="3600" b="1">
                <a:solidFill>
                  <a:srgbClr val="2C3E50"/>
                </a:solidFill>
                <a:latin typeface="Segoe UI Semibold"/>
              </a:defRPr>
            </a:pPr>
            <a:r>
              <a:t>Product Overview &amp; Specifications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45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50292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505050"/>
                </a:solidFill>
                <a:latin typeface="Segoe UI"/>
              </a:defRPr>
            </a:pPr>
            <a:r>
              <a:t>• High-performance hardware components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• Enterprise-grade software solutions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505050"/>
                </a:solidFill>
                <a:latin typeface="Segoe UI"/>
              </a:defRPr>
            </a:pPr>
            <a:r>
              <a:t>• Advanced security features and protocols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• Reliable performance and uptime guarantees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505050"/>
                </a:solidFill>
                <a:latin typeface="Segoe UI"/>
              </a:defRPr>
            </a:pPr>
            <a:r>
              <a:t>• Energy-efficient and sustainable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583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Segoe U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rIns="182880" tIns="91440" bIns="91440">
            <a:spAutoFit/>
          </a:bodyPr>
          <a:lstStyle/>
          <a:p>
            <a:pPr algn="ctr">
              <a:defRPr sz="3600" b="1">
                <a:solidFill>
                  <a:srgbClr val="2C3E50"/>
                </a:solidFill>
                <a:latin typeface="Segoe UI Semibold"/>
              </a:defRPr>
            </a:pPr>
            <a:r>
              <a:t>Investment &amp; Pricing Breakdown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45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50292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505050"/>
                </a:solidFill>
                <a:latin typeface="Segoe UI"/>
              </a:defRPr>
            </a:pPr>
            <a:r>
              <a:t>• Competitive pricing for premium solutions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• Transparent cost structure with no hidden fees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505050"/>
                </a:solidFill>
                <a:latin typeface="Segoe UI"/>
              </a:defRPr>
            </a:pPr>
            <a:r>
              <a:t>• Flexible payment options and financing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• Volume discounts for bulk purchases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505050"/>
                </a:solidFill>
                <a:latin typeface="Segoe UI"/>
              </a:defRPr>
            </a:pPr>
            <a:r>
              <a:t>• Cost-effective total ownership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583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Segoe U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rIns="182880" tIns="91440" bIns="91440">
            <a:spAutoFit/>
          </a:bodyPr>
          <a:lstStyle/>
          <a:p>
            <a:pPr algn="ctr">
              <a:defRPr sz="3600" b="1">
                <a:solidFill>
                  <a:srgbClr val="2C3E50"/>
                </a:solidFill>
                <a:latin typeface="Segoe UI Semibold"/>
              </a:defRPr>
            </a:pPr>
            <a:r>
              <a:t>Warranty &amp; Support Services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45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50292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505050"/>
                </a:solidFill>
                <a:latin typeface="Segoe UI"/>
              </a:defRPr>
            </a:pPr>
            <a:r>
              <a:t>• Comprehensive warranty coverage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• 24/7 technical support availability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505050"/>
                </a:solidFill>
                <a:latin typeface="Segoe UI"/>
              </a:defRPr>
            </a:pPr>
            <a:r>
              <a:t>• On-site service and maintenance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• Remote monitoring and diagnostics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505050"/>
                </a:solidFill>
                <a:latin typeface="Segoe UI"/>
              </a:defRPr>
            </a:pPr>
            <a:r>
              <a:t>• Regular updates and system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583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Segoe U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rIns="182880" tIns="91440" bIns="91440">
            <a:spAutoFit/>
          </a:bodyPr>
          <a:lstStyle/>
          <a:p>
            <a:pPr algn="ctr">
              <a:defRPr sz="3600" b="1">
                <a:solidFill>
                  <a:srgbClr val="2C3E50"/>
                </a:solidFill>
                <a:latin typeface="Segoe UI Semibold"/>
              </a:defRPr>
            </a:pPr>
            <a:r>
              <a:t>Delivery Timeline &amp;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45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50292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505050"/>
                </a:solidFill>
                <a:latin typeface="Segoe UI"/>
              </a:defRPr>
            </a:pPr>
            <a:r>
              <a:t>• Efficient project planning and execution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• Minimal disruption to daily operations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505050"/>
                </a:solidFill>
                <a:latin typeface="Segoe UI"/>
              </a:defRPr>
            </a:pPr>
            <a:r>
              <a:t>• Phased implementation approach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• Staff training and knowledge transfer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505050"/>
                </a:solidFill>
                <a:latin typeface="Segoe UI"/>
              </a:defRPr>
            </a:pPr>
            <a:r>
              <a:t>• Post-implementation support and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583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Segoe U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rIns="182880" tIns="91440" bIns="91440">
            <a:spAutoFit/>
          </a:bodyPr>
          <a:lstStyle/>
          <a:p>
            <a:pPr algn="ctr">
              <a:defRPr sz="3600" b="1">
                <a:solidFill>
                  <a:srgbClr val="2C3E50"/>
                </a:solidFill>
                <a:latin typeface="Segoe UI Semibold"/>
              </a:defRPr>
            </a:pPr>
            <a:r>
              <a:t>Next Steps &amp; Call to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45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50292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505050"/>
                </a:solidFill>
                <a:latin typeface="Segoe UI"/>
              </a:defRPr>
            </a:pPr>
            <a:r>
              <a:t>• Schedule a detailed technical consultation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• Review and finalize solution specifications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505050"/>
                </a:solidFill>
                <a:latin typeface="Segoe UI"/>
              </a:defRPr>
            </a:pPr>
            <a:r>
              <a:t>• Confirm project timeline and milestones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• Sign agreement and initiate implementation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505050"/>
                </a:solidFill>
                <a:latin typeface="Segoe UI"/>
              </a:defRPr>
            </a:pPr>
            <a:r>
              <a:t>• Begin your journey to technology excellence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583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Segoe U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rIns="182880" tIns="91440" bIns="91440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45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10287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Segoe UI Semibold"/>
                        </a:defRPr>
                      </a:pPr>
                      <a:r>
                        <a:t>Product Name</a:t>
                      </a:r>
                    </a:p>
                  </a:txBody>
                  <a:tcPr marL="91440" marR="91440" marT="91440" marB="91440"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Segoe UI Semibold"/>
                        </a:defRPr>
                      </a:pPr>
                      <a:r>
                        <a:t>Key Features</a:t>
                      </a:r>
                    </a:p>
                  </a:txBody>
                  <a:tcPr marL="91440" marR="91440" marT="91440" marB="91440"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Segoe UI Semibold"/>
                        </a:defRPr>
                      </a:pPr>
                      <a:r>
                        <a:t>Price</a:t>
                      </a:r>
                    </a:p>
                  </a:txBody>
                  <a:tcPr marL="91440" marR="91440" marT="91440" marB="91440"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Segoe UI Semibold"/>
                        </a:defRPr>
                      </a:pPr>
                      <a:r>
                        <a:t>Vendor</a:t>
                      </a:r>
                    </a:p>
                  </a:txBody>
                  <a:tcPr marL="91440" marR="91440" marT="91440" marB="91440">
                    <a:solidFill>
                      <a:srgbClr val="34495E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Dell Precision 7670</a:t>
                      </a:r>
                    </a:p>
                  </a:txBody>
                  <a:tcPr marL="91440" marR="91440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Mobile workstation with Intel Core i7 processor, 32GB RAM, professional graphics</a:t>
                      </a:r>
                    </a:p>
                  </a:txBody>
                  <a:tcPr marL="91440" marR="91440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$2,800.00</a:t>
                      </a:r>
                    </a:p>
                  </a:txBody>
                  <a:tcPr marL="91440" marR="91440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Dell</a:t>
                      </a:r>
                    </a:p>
                  </a:txBody>
                  <a:tcPr marL="91440" marR="91440" marT="91440" marB="91440"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HP ZBook Studio G9</a:t>
                      </a:r>
                    </a:p>
                  </a:txBody>
                  <a:tcPr marL="91440" marR="91440" marT="91440" marB="9144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Professional workstation laptop with high-performance GPU and enterprise features</a:t>
                      </a:r>
                    </a:p>
                  </a:txBody>
                  <a:tcPr marL="91440" marR="91440" marT="91440" marB="9144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$2,650.00</a:t>
                      </a:r>
                    </a:p>
                  </a:txBody>
                  <a:tcPr marL="91440" marR="91440" marT="91440" marB="9144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HP</a:t>
                      </a:r>
                    </a:p>
                  </a:txBody>
                  <a:tcPr marL="91440" marR="91440" marT="91440" marB="91440">
                    <a:solidFill>
                      <a:srgbClr val="F8F9FA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Lenovo ThinkPad P1 Gen 5</a:t>
                      </a:r>
                    </a:p>
                  </a:txBody>
                  <a:tcPr marL="91440" marR="91440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Ultra-portable workstation with Intel vPro technology and ISV certification</a:t>
                      </a:r>
                    </a:p>
                  </a:txBody>
                  <a:tcPr marL="91440" marR="91440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$2,750.00</a:t>
                      </a:r>
                    </a:p>
                  </a:txBody>
                  <a:tcPr marL="91440" marR="91440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Lenovo</a:t>
                      </a:r>
                    </a:p>
                  </a:txBody>
                  <a:tcPr marL="91440" marR="91440" marT="91440" marB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18436D-DA32-4E27-AC64-8FFEDA5218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EFFFA3F-0FB5-4ED3-8906-A15B16577F4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TM16401371[[fn=Atlas]]</Template>
  <TotalTime>20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Arial</vt:lpstr>
      <vt:lpstr>Calibri</vt:lpstr>
      <vt:lpstr>Calibri Light</vt:lpstr>
      <vt:lpstr>Rockwell</vt:lpstr>
      <vt:lpstr>Wingdings</vt:lpstr>
      <vt:lpstr>Atlas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Nandini S</dc:creator>
  <cp:lastModifiedBy>Nandini S</cp:lastModifiedBy>
  <cp:revision>5</cp:revision>
  <dcterms:created xsi:type="dcterms:W3CDTF">2025-06-06T03:18:01Z</dcterms:created>
  <dcterms:modified xsi:type="dcterms:W3CDTF">2025-06-06T04:39:29Z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